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2FD"/>
    <a:srgbClr val="25A1B8"/>
    <a:srgbClr val="77D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4" y="-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0270" y="2528853"/>
            <a:ext cx="11317763" cy="2476857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A2E35"/>
                </a:solidFill>
                <a:latin typeface="Noto Sans KR"/>
              </a:defRPr>
            </a:pPr>
            <a:r>
              <a:rPr sz="5200" b="1" i="0" dirty="0">
                <a:solidFill>
                  <a:srgbClr val="1A2E35"/>
                </a:solidFill>
                <a:latin typeface="Noto Sans KR"/>
              </a:rPr>
              <a:t>COSRX </a:t>
            </a:r>
            <a:r>
              <a:rPr sz="5200" b="1" i="0" dirty="0" err="1">
                <a:solidFill>
                  <a:srgbClr val="1A2E35"/>
                </a:solidFill>
                <a:latin typeface="Noto Sans KR"/>
              </a:rPr>
              <a:t>MZ세대</a:t>
            </a:r>
            <a:r>
              <a:rPr dirty="0"/>
              <a:t>
</a:t>
            </a:r>
            <a:r>
              <a:rPr sz="5200" b="1" i="0" dirty="0" err="1">
                <a:solidFill>
                  <a:srgbClr val="1A2E35"/>
                </a:solidFill>
                <a:latin typeface="Noto Sans KR"/>
              </a:rPr>
              <a:t>기업문화</a:t>
            </a:r>
            <a:r>
              <a:rPr sz="5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5200" b="1" i="0" dirty="0" err="1">
                <a:solidFill>
                  <a:srgbClr val="1A2E35"/>
                </a:solidFill>
                <a:latin typeface="Noto Sans KR"/>
              </a:rPr>
              <a:t>활성화</a:t>
            </a:r>
            <a:r>
              <a:rPr sz="5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5200" b="1" i="0" dirty="0" err="1">
                <a:solidFill>
                  <a:srgbClr val="1A2E35"/>
                </a:solidFill>
                <a:latin typeface="Noto Sans KR"/>
              </a:rPr>
              <a:t>프로그램</a:t>
            </a:r>
            <a:r>
              <a:rPr sz="5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5200" b="1" i="0" dirty="0" err="1">
                <a:solidFill>
                  <a:srgbClr val="1A2E35"/>
                </a:solidFill>
                <a:latin typeface="Noto Sans KR"/>
              </a:rPr>
              <a:t>제안</a:t>
            </a:r>
            <a:endParaRPr sz="52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0042" y="5651500"/>
            <a:ext cx="8826500" cy="5497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25A1B8"/>
                </a:solidFill>
                <a:latin typeface="Noto Sans KR"/>
              </a:defRPr>
            </a:pPr>
            <a:r>
              <a:rPr sz="2800" b="0" i="0" dirty="0">
                <a:solidFill>
                  <a:srgbClr val="25A1B8"/>
                </a:solidFill>
                <a:latin typeface="Noto Sans KR"/>
              </a:rPr>
              <a:t>RX Your Career — </a:t>
            </a:r>
            <a:r>
              <a:rPr sz="2800" b="1" i="0" dirty="0" err="1">
                <a:solidFill>
                  <a:srgbClr val="25A1B8"/>
                </a:solidFill>
                <a:latin typeface="Noto Sans KR"/>
              </a:rPr>
              <a:t>당신의</a:t>
            </a:r>
            <a:r>
              <a:rPr sz="2800" b="1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800" b="1" i="0" dirty="0" err="1">
                <a:solidFill>
                  <a:srgbClr val="25A1B8"/>
                </a:solidFill>
                <a:latin typeface="Noto Sans KR"/>
              </a:rPr>
              <a:t>커리어를</a:t>
            </a:r>
            <a:r>
              <a:rPr sz="2800" b="1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800" b="1" i="0" dirty="0" err="1">
                <a:solidFill>
                  <a:srgbClr val="25A1B8"/>
                </a:solidFill>
                <a:latin typeface="Noto Sans KR"/>
              </a:rPr>
              <a:t>처방</a:t>
            </a:r>
            <a:r>
              <a:rPr sz="2800" b="0" i="0" dirty="0" err="1">
                <a:solidFill>
                  <a:srgbClr val="25A1B8"/>
                </a:solidFill>
                <a:latin typeface="Noto Sans KR"/>
              </a:rPr>
              <a:t>하다</a:t>
            </a:r>
            <a:endParaRPr sz="2800" b="0" i="0" dirty="0">
              <a:solidFill>
                <a:srgbClr val="25A1B8"/>
              </a:solidFill>
              <a:latin typeface="Noto Sans K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74888" y="5651500"/>
            <a:ext cx="0" cy="533400"/>
          </a:xfrm>
          <a:prstGeom prst="line">
            <a:avLst/>
          </a:prstGeom>
          <a:ln w="508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06982" y="3523510"/>
            <a:ext cx="4054938" cy="41757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sz="36800" b="1" i="0">
                <a:solidFill>
                  <a:srgbClr val="E0F7FA"/>
                </a:solidFill>
                <a:latin typeface="Noto Sans KR"/>
              </a:defRPr>
            </a:pPr>
            <a:r>
              <a:rPr sz="36800" b="1" i="0" dirty="0">
                <a:solidFill>
                  <a:srgbClr val="E0F7FA"/>
                </a:solidFill>
                <a:latin typeface="Noto Sans KR"/>
              </a:rPr>
              <a:t>R</a:t>
            </a:r>
            <a:r>
              <a:rPr sz="36800" b="1" i="0" dirty="0">
                <a:solidFill>
                  <a:srgbClr val="25A1B8"/>
                </a:solidFill>
                <a:latin typeface="Noto Sans KR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F82D2-9F50-8408-9A84-7380F632CE19}"/>
              </a:ext>
            </a:extLst>
          </p:cNvPr>
          <p:cNvSpPr txBox="1"/>
          <p:nvPr/>
        </p:nvSpPr>
        <p:spPr>
          <a:xfrm>
            <a:off x="11453091" y="8064500"/>
            <a:ext cx="3908829" cy="889243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57575"/>
                </a:solidFill>
                <a:latin typeface="Noto Sans KR"/>
              </a:defRPr>
            </a:pP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미니컴퍼니C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인사편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, 2022</a:t>
            </a:r>
            <a:r>
              <a:rPr lang="en-US" sz="1400" b="0" i="0" dirty="0">
                <a:solidFill>
                  <a:srgbClr val="757575"/>
                </a:solidFill>
                <a:latin typeface="Noto Sans KR"/>
              </a:rPr>
              <a:t>.06.27</a:t>
            </a:r>
            <a:r>
              <a:rPr dirty="0"/>
              <a:t>
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리뷰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데이터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정리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·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인사이트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도출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·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프로그램</a:t>
            </a:r>
            <a:r>
              <a:rPr sz="1400" b="0" i="0" dirty="0">
                <a:solidFill>
                  <a:srgbClr val="757575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757575"/>
                </a:solidFill>
                <a:latin typeface="Noto Sans KR"/>
              </a:rPr>
              <a:t>기획</a:t>
            </a:r>
            <a:endParaRPr lang="en-US" sz="1400" b="0" i="0" dirty="0">
              <a:solidFill>
                <a:srgbClr val="757575"/>
              </a:solidFill>
              <a:latin typeface="Noto Sans KR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57575"/>
                </a:solidFill>
                <a:latin typeface="Noto Sans KR"/>
              </a:defRPr>
            </a:pPr>
            <a:r>
              <a:rPr lang="ko-KR" altLang="en-US" sz="1400" dirty="0" err="1">
                <a:solidFill>
                  <a:srgbClr val="757575"/>
                </a:solidFill>
                <a:latin typeface="Noto Sans KR"/>
              </a:rPr>
              <a:t>태원섭</a:t>
            </a:r>
            <a:r>
              <a:rPr lang="ko-KR" altLang="en-US" sz="1400" dirty="0">
                <a:solidFill>
                  <a:srgbClr val="757575"/>
                </a:solidFill>
                <a:latin typeface="Noto Sans KR"/>
              </a:rPr>
              <a:t> 최종본</a:t>
            </a:r>
            <a:endParaRPr sz="1400" b="0" i="0" dirty="0">
              <a:solidFill>
                <a:srgbClr val="757575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프로젝트 전개 순서 안내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3600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38400" y="8636000"/>
            <a:ext cx="127000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552700"/>
            <a:ext cx="6921500" cy="2781300"/>
          </a:xfrm>
          <a:prstGeom prst="roundRect">
            <a:avLst>
              <a:gd name="adj" fmla="val 3652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663700" y="2789078"/>
            <a:ext cx="6032500" cy="568643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3200" b="1" i="0" dirty="0">
                <a:solidFill>
                  <a:srgbClr val="1A2E35"/>
                </a:solidFill>
                <a:latin typeface="Noto Sans KR"/>
              </a:rPr>
              <a:t>Phase 1.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문제</a:t>
            </a:r>
            <a:r>
              <a:rPr sz="3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정의</a:t>
            </a:r>
            <a:endParaRPr sz="32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21612" y="34671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급성장 조직의 온보딩 리스크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1612" y="38989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2022 조직문화/HR 트렌드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1612" y="43307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COSRX 신입 이탈 문제 정의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500" y="2552700"/>
            <a:ext cx="6921500" cy="2781300"/>
          </a:xfrm>
          <a:prstGeom prst="roundRect">
            <a:avLst>
              <a:gd name="adj" fmla="val 3652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9086850" y="2789077"/>
            <a:ext cx="6032500" cy="568643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3200" b="1" i="0" dirty="0">
                <a:solidFill>
                  <a:srgbClr val="1A2E35"/>
                </a:solidFill>
                <a:latin typeface="Noto Sans KR"/>
              </a:rPr>
              <a:t>Phase 2.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원인</a:t>
            </a:r>
            <a:r>
              <a:rPr sz="3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분석</a:t>
            </a:r>
            <a:endParaRPr sz="32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24112" y="34671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조사 설계 및 분석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4112" y="38989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주요 인사이트 도출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4112" y="43307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타깃 페르소나 및 경쟁사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5850" y="5842000"/>
            <a:ext cx="6921500" cy="2781300"/>
          </a:xfrm>
          <a:prstGeom prst="roundRect">
            <a:avLst>
              <a:gd name="adj" fmla="val 3652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663700" y="5938678"/>
            <a:ext cx="6032500" cy="568643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3200" b="1" i="0" dirty="0">
                <a:solidFill>
                  <a:srgbClr val="1A2E35"/>
                </a:solidFill>
                <a:latin typeface="Noto Sans KR"/>
              </a:rPr>
              <a:t>Phase 3.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솔루션</a:t>
            </a:r>
            <a:r>
              <a:rPr sz="3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설계</a:t>
            </a:r>
            <a:endParaRPr sz="32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21612" y="66294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Solution Concept: RX Your Career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1612" y="70612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Onboarding Journey Map (90일)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1612" y="74930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Solution ①: RX Onboarding 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1612" y="79248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Solution ②: Open RX 타운홀 미팅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18500" y="5842000"/>
            <a:ext cx="6921500" cy="2781300"/>
          </a:xfrm>
          <a:prstGeom prst="roundRect">
            <a:avLst>
              <a:gd name="adj" fmla="val 3652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9086850" y="6009957"/>
            <a:ext cx="6032500" cy="568643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3200" b="1" i="0" dirty="0">
                <a:solidFill>
                  <a:srgbClr val="1A2E35"/>
                </a:solidFill>
                <a:latin typeface="Noto Sans KR"/>
              </a:rPr>
              <a:t>Phase 4.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실행</a:t>
            </a:r>
            <a:r>
              <a:rPr sz="32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3200" b="1" i="0" dirty="0" err="1">
                <a:solidFill>
                  <a:srgbClr val="1A2E35"/>
                </a:solidFill>
                <a:latin typeface="Noto Sans KR"/>
              </a:rPr>
              <a:t>계획</a:t>
            </a:r>
            <a:endParaRPr sz="32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24112" y="67564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성과지표(KPI) 및 측정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4112" y="7188200"/>
            <a:ext cx="5974588" cy="322421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실행 로드맵 및 기대효과</a:t>
            </a:r>
          </a:p>
        </p:txBody>
      </p:sp>
      <p:pic>
        <p:nvPicPr>
          <p:cNvPr id="26" name="Picture 25" descr="7bf619f5-e9b2-4c61-b7b3-60bc894ef6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" y="2895600"/>
            <a:ext cx="381000" cy="304800"/>
          </a:xfrm>
          <a:prstGeom prst="rect">
            <a:avLst/>
          </a:prstGeom>
        </p:spPr>
      </p:pic>
      <p:pic>
        <p:nvPicPr>
          <p:cNvPr id="27" name="Picture 26" descr="f4b54305-f70b-49c3-97b7-adf91800a5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2895600"/>
            <a:ext cx="381000" cy="304800"/>
          </a:xfrm>
          <a:prstGeom prst="rect">
            <a:avLst/>
          </a:prstGeom>
        </p:spPr>
      </p:pic>
      <p:pic>
        <p:nvPicPr>
          <p:cNvPr id="28" name="Picture 27" descr="bd54f606-7fda-4ff9-9d13-53e599271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6057900"/>
            <a:ext cx="381000" cy="304800"/>
          </a:xfrm>
          <a:prstGeom prst="rect">
            <a:avLst/>
          </a:prstGeom>
        </p:spPr>
      </p:pic>
      <p:pic>
        <p:nvPicPr>
          <p:cNvPr id="29" name="Picture 28" descr="e0728197-fdaf-4e41-b552-dde6f2052f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6096000"/>
            <a:ext cx="3810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2700" y="34671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2700" y="38989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2700" y="43307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5200" y="34671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5200" y="38989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5200" y="43307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2700" y="66294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07.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2700" y="70612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2700" y="74930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09.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2700" y="79248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10.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5200" y="67564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11.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5200" y="7188200"/>
            <a:ext cx="338328" cy="329184"/>
          </a:xfrm>
          <a:prstGeom prst="rect">
            <a:avLst/>
          </a:prstGeom>
          <a:noFill/>
        </p:spPr>
        <p:txBody>
          <a:bodyPr wrap="square" lIns="0" tIns="25400" bIns="25400">
            <a:spAutoFit/>
          </a:bodyPr>
          <a:lstStyle/>
          <a:p>
            <a:r>
              <a:rPr sz="1344">
                <a:solidFill>
                  <a:srgbClr val="5C7073"/>
                </a:solidFill>
                <a:latin typeface="Noto Sans KR"/>
              </a:rPr>
              <a:t>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급성장 조직이 겪는 ‘온보딩 리스크’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급성장일수록 신입 온보딩이 조직 성과의 병목이 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89000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05000" y="43688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254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87500" y="5638800"/>
            <a:ext cx="1689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1. 신규 채용 급증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197600"/>
            <a:ext cx="3429000" cy="57146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사업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확장에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따라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채용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프로세스가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빨라지고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,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입사자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수가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단기간에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증가합니다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43688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25400">
            <a:solidFill>
              <a:srgbClr val="F5C6CB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38800" y="5638800"/>
            <a:ext cx="12065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2. 적응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197600"/>
            <a:ext cx="3810000" cy="57146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체계적인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온보딩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시스템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부재로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신규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입사자가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조직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문화와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업무에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적응하는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데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어려움을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겪습니다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5000" y="43688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254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48800" y="5638800"/>
            <a:ext cx="12065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3. 조기 이탈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999" y="6197600"/>
            <a:ext cx="3428999" cy="57146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기대치와의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불일치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,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소속감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부재로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인해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핵심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인재가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1년 내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퇴사하는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비율이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높아집니다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17500" y="5638800"/>
            <a:ext cx="1689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4. 조직 손실 발생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2199" y="6197564"/>
            <a:ext cx="2839721" cy="57146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재채용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/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재교육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비용이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발생하고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, 팀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전체의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생산성과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사기가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저하됩니다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</a:t>
            </a:r>
          </a:p>
        </p:txBody>
      </p:sp>
      <p:pic>
        <p:nvPicPr>
          <p:cNvPr id="19" name="Picture 18" descr="a8d29dfd-4394-4a41-ac5f-7b89bf415e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4673600"/>
            <a:ext cx="508000" cy="406400"/>
          </a:xfrm>
          <a:prstGeom prst="rect">
            <a:avLst/>
          </a:prstGeom>
        </p:spPr>
      </p:pic>
      <p:pic>
        <p:nvPicPr>
          <p:cNvPr id="20" name="Picture 19" descr="d77a3118-66e5-4cd5-937c-1318a815d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787900"/>
            <a:ext cx="254000" cy="406400"/>
          </a:xfrm>
          <a:prstGeom prst="rect">
            <a:avLst/>
          </a:prstGeom>
        </p:spPr>
      </p:pic>
      <p:pic>
        <p:nvPicPr>
          <p:cNvPr id="21" name="Picture 20" descr="9e0566c8-0cda-421c-8dd2-a6887c4d44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4673600"/>
            <a:ext cx="508000" cy="406400"/>
          </a:xfrm>
          <a:prstGeom prst="rect">
            <a:avLst/>
          </a:prstGeom>
        </p:spPr>
      </p:pic>
      <p:pic>
        <p:nvPicPr>
          <p:cNvPr id="22" name="Picture 21" descr="d77a3118-66e5-4cd5-937c-1318a815d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787900"/>
            <a:ext cx="254000" cy="406400"/>
          </a:xfrm>
          <a:prstGeom prst="rect">
            <a:avLst/>
          </a:prstGeom>
        </p:spPr>
      </p:pic>
      <p:pic>
        <p:nvPicPr>
          <p:cNvPr id="23" name="Picture 22" descr="f76d1cfa-882b-4f6a-abca-7944107d00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4673600"/>
            <a:ext cx="508000" cy="406400"/>
          </a:xfrm>
          <a:prstGeom prst="rect">
            <a:avLst/>
          </a:prstGeom>
        </p:spPr>
      </p:pic>
      <p:pic>
        <p:nvPicPr>
          <p:cNvPr id="25" name="Picture 24" descr="d77a3118-66e5-4cd5-937c-1318a815d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0" y="4787900"/>
            <a:ext cx="254000" cy="406400"/>
          </a:xfrm>
          <a:prstGeom prst="rect">
            <a:avLst/>
          </a:prstGeom>
        </p:spPr>
      </p:pic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CFDB8117-AD5F-2000-30C1-F1D92BBE52A5}"/>
              </a:ext>
            </a:extLst>
          </p:cNvPr>
          <p:cNvSpPr/>
          <p:nvPr/>
        </p:nvSpPr>
        <p:spPr>
          <a:xfrm>
            <a:off x="13284200" y="4356100"/>
            <a:ext cx="1016000" cy="101600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>
            <a:solidFill>
              <a:srgbClr val="FF0000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>
              <a:highlight>
                <a:srgbClr val="FF0000"/>
              </a:highlight>
            </a:endParaRPr>
          </a:p>
        </p:txBody>
      </p:sp>
      <p:pic>
        <p:nvPicPr>
          <p:cNvPr id="27" name="Picture 22" descr="3989be77-b951-4d1c-a67b-da8da7c476ac.png">
            <a:extLst>
              <a:ext uri="{FF2B5EF4-FFF2-40B4-BE49-F238E27FC236}">
                <a16:creationId xmlns:a16="http://schemas.microsoft.com/office/drawing/2014/main" id="{7A2CE370-2E10-F38D-6768-60A732061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400" y="4559300"/>
            <a:ext cx="609600" cy="609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9" name="그림 28" descr="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6DA5D2-58A0-BE88-527D-018B3E005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7283450"/>
            <a:ext cx="11127509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2022년 조직문화/HR 트렌드 – 키워드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8400" y="1720850"/>
            <a:ext cx="14193520" cy="383977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 dirty="0">
                <a:solidFill>
                  <a:srgbClr val="25A1B8"/>
                </a:solidFill>
                <a:latin typeface="Noto Sans KR"/>
              </a:rPr>
              <a:t>2022년은 </a:t>
            </a:r>
            <a:r>
              <a:rPr sz="2000" b="1" i="0" dirty="0">
                <a:solidFill>
                  <a:srgbClr val="25A1B8"/>
                </a:solidFill>
                <a:latin typeface="Noto Sans KR"/>
              </a:rPr>
              <a:t>‘</a:t>
            </a:r>
            <a:r>
              <a:rPr sz="2000" b="1" i="0" dirty="0" err="1">
                <a:solidFill>
                  <a:srgbClr val="25A1B8"/>
                </a:solidFill>
                <a:latin typeface="Noto Sans KR"/>
              </a:rPr>
              <a:t>직원경험</a:t>
            </a:r>
            <a:r>
              <a:rPr sz="2000" b="1" i="0" dirty="0">
                <a:solidFill>
                  <a:srgbClr val="25A1B8"/>
                </a:solidFill>
                <a:latin typeface="Noto Sans KR"/>
              </a:rPr>
              <a:t>(</a:t>
            </a:r>
            <a:r>
              <a:rPr sz="2000" b="1" i="0" dirty="0" err="1">
                <a:solidFill>
                  <a:srgbClr val="25A1B8"/>
                </a:solidFill>
                <a:latin typeface="Noto Sans KR"/>
              </a:rPr>
              <a:t>UX처럼</a:t>
            </a:r>
            <a:r>
              <a:rPr sz="2000" b="1" i="0" dirty="0">
                <a:solidFill>
                  <a:srgbClr val="25A1B8"/>
                </a:solidFill>
                <a:latin typeface="Noto Sans KR"/>
              </a:rPr>
              <a:t> EX)’과 ‘</a:t>
            </a:r>
            <a:r>
              <a:rPr sz="2000" b="1" i="0" dirty="0" err="1">
                <a:solidFill>
                  <a:srgbClr val="25A1B8"/>
                </a:solidFill>
                <a:latin typeface="Noto Sans KR"/>
              </a:rPr>
              <a:t>연결감’이</a:t>
            </a:r>
            <a:r>
              <a:rPr sz="2000" b="1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b="0" i="0" dirty="0" err="1">
                <a:solidFill>
                  <a:srgbClr val="25A1B8"/>
                </a:solidFill>
                <a:latin typeface="Noto Sans KR"/>
              </a:rPr>
              <a:t>핵심</a:t>
            </a:r>
            <a:r>
              <a:rPr sz="2000" b="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b="0" i="0" dirty="0" err="1">
                <a:solidFill>
                  <a:srgbClr val="25A1B8"/>
                </a:solidFill>
                <a:latin typeface="Noto Sans KR"/>
              </a:rPr>
              <a:t>이슈였습니다</a:t>
            </a:r>
            <a:r>
              <a:rPr sz="2000" b="0" i="0" dirty="0">
                <a:solidFill>
                  <a:srgbClr val="25A1B8"/>
                </a:solidFill>
                <a:latin typeface="Noto Sans KR"/>
              </a:rPr>
              <a:t>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16000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246100" y="8182049"/>
            <a:ext cx="19939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MiniCompany C. / 2022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" y="2352749"/>
            <a:ext cx="6921500" cy="300990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38500" y="3762449"/>
            <a:ext cx="24511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하이브리드 &amp; 비대면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4300" y="4321249"/>
            <a:ext cx="61595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유연한 근무 환경이 보편화되며, 물리적 거리감을 극복할 새로운 소통 방식과 조직 관리의 필요성이 대두되었습니다.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3100" y="2352749"/>
            <a:ext cx="6921500" cy="300990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60100" y="3762449"/>
            <a:ext cx="16129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직원경험(EX)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321249"/>
            <a:ext cx="61595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고객경험(UX)처럼 직원의 모든 여정(채용, 온보딩, 성장, 퇴사)을 체계적으로 설계하고 긍정적 경험을 제공하는 것이 중요해졌습니다.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600" y="5743649"/>
            <a:ext cx="6921500" cy="300990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4900" y="7153349"/>
            <a:ext cx="16510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심리적 안전감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4300" y="7712149"/>
            <a:ext cx="61595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구성원이 실패에 대한 두려움 없이 자유롭게 질문하고 의견을 개진할 수 있는 환경이 혁신과 성장의 필수 조건으로 인식되었습니다.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100" y="5743649"/>
            <a:ext cx="6921500" cy="3009900"/>
          </a:xfrm>
          <a:prstGeom prst="roundRect">
            <a:avLst>
              <a:gd name="adj" fmla="val 5063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28300" y="7153349"/>
            <a:ext cx="24765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소속감 (Belonging)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7712149"/>
            <a:ext cx="61595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개인이 조직의 일원으로서 존중받고 연결되어 있다는 느낌은 몰입과 유지의 핵심 동력으로, 관계 형성을 위한 의도적 노력이 강조되었습니다.</a:t>
            </a:r>
          </a:p>
        </p:txBody>
      </p:sp>
      <p:pic>
        <p:nvPicPr>
          <p:cNvPr id="18" name="Picture 17" descr="2fa94a61-370e-441e-ae78-09e7d787b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2822649"/>
            <a:ext cx="762000" cy="609600"/>
          </a:xfrm>
          <a:prstGeom prst="rect">
            <a:avLst/>
          </a:prstGeom>
        </p:spPr>
      </p:pic>
      <p:pic>
        <p:nvPicPr>
          <p:cNvPr id="19" name="Picture 18" descr="1c38bc8c-d932-44b0-aac5-1bcd44d59d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00" y="2822649"/>
            <a:ext cx="762000" cy="609600"/>
          </a:xfrm>
          <a:prstGeom prst="rect">
            <a:avLst/>
          </a:prstGeom>
        </p:spPr>
      </p:pic>
      <p:pic>
        <p:nvPicPr>
          <p:cNvPr id="20" name="Picture 19" descr="56c6611d-a58f-451f-8343-6d30d4d532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6213549"/>
            <a:ext cx="609600" cy="609600"/>
          </a:xfrm>
          <a:prstGeom prst="rect">
            <a:avLst/>
          </a:prstGeom>
        </p:spPr>
      </p:pic>
      <p:pic>
        <p:nvPicPr>
          <p:cNvPr id="21" name="Picture 20" descr="144be6cd-eefa-44ea-bc03-60d58547cb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00" y="6213549"/>
            <a:ext cx="7620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4051300"/>
            <a:ext cx="4533900" cy="4089400"/>
          </a:xfrm>
          <a:prstGeom prst="roundRect">
            <a:avLst>
              <a:gd name="adj" fmla="val 224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54700" y="4051300"/>
            <a:ext cx="4533900" cy="4089400"/>
          </a:xfrm>
          <a:prstGeom prst="roundRect">
            <a:avLst>
              <a:gd name="adj" fmla="val 224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06100" y="4051300"/>
            <a:ext cx="4533900" cy="4089400"/>
          </a:xfrm>
          <a:prstGeom prst="roundRect">
            <a:avLst>
              <a:gd name="adj" fmla="val 224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Problem Statement: COSRX 신규 입사자 이탈 원인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COSRX의 신입 이탈은 ‘힘든 일’보다 ‘안내 부재·관계 부재’에서 시작된다.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1621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6000" y="2819400"/>
            <a:ext cx="3009900" cy="584200"/>
          </a:xfrm>
          <a:prstGeom prst="roundRect">
            <a:avLst>
              <a:gd name="adj" fmla="val 1739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역할/우선순위 불명확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819400"/>
            <a:ext cx="3009900" cy="584200"/>
          </a:xfrm>
          <a:prstGeom prst="roundRect">
            <a:avLst>
              <a:gd name="adj" fmla="val 1739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질문/소통 채널 부재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7900" y="2819400"/>
            <a:ext cx="3009900" cy="584200"/>
          </a:xfrm>
          <a:prstGeom prst="roundRect">
            <a:avLst>
              <a:gd name="adj" fmla="val 1739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성장/피드백 부재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20600" y="2552700"/>
            <a:ext cx="2819400" cy="1117600"/>
          </a:xfrm>
          <a:prstGeom prst="roundRect">
            <a:avLst>
              <a:gd name="adj" fmla="val 9090"/>
            </a:avLst>
          </a:prstGeom>
          <a:solidFill>
            <a:srgbClr val="D9534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Noto Sans KR"/>
              </a:defRPr>
            </a:pPr>
            <a:r>
              <a:rPr sz="2000" b="1" i="0">
                <a:solidFill>
                  <a:srgbClr val="FFFFFF"/>
                </a:solidFill>
                <a:latin typeface="Noto Sans KR"/>
              </a:rPr>
              <a:t>신규 입사자 조기 이탈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4851400"/>
            <a:ext cx="18669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역할/미션의 모호함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08100" y="5206248"/>
            <a:ext cx="4000500" cy="11910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73200" y="5371348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 dirty="0">
                <a:solidFill>
                  <a:srgbClr val="5C7073"/>
                </a:solidFill>
                <a:latin typeface="Noto Sans KR"/>
              </a:rPr>
              <a:t>"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입사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첫 주, R&amp;R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문서도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없이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바로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실무에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투입됐어요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.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제가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뭘,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어디까지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해야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하는지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몰라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막막했습니다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200" y="6170843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46C00"/>
                </a:solidFill>
                <a:latin typeface="Noto Sans KR"/>
              </a:defRPr>
            </a:pPr>
            <a:r>
              <a:rPr sz="1200" b="1" i="0" dirty="0" err="1">
                <a:solidFill>
                  <a:srgbClr val="77DA89"/>
                </a:solidFill>
                <a:latin typeface="Noto Sans KR"/>
              </a:rPr>
              <a:t>Jobplanet</a:t>
            </a:r>
            <a:endParaRPr sz="1200" b="1" i="0" dirty="0">
              <a:solidFill>
                <a:srgbClr val="77DA89"/>
              </a:solidFill>
              <a:latin typeface="Noto Sans K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08100" y="6897456"/>
            <a:ext cx="4000500" cy="11910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73200" y="7062556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>
                <a:solidFill>
                  <a:srgbClr val="5C7073"/>
                </a:solidFill>
                <a:latin typeface="Noto Sans KR"/>
              </a:rPr>
              <a:t>"팀바팀이겠지만, 체계가 없어서 신입이 알아서 일을 찾아야 하는 분위기. 어떤 기준으로 평가받는지도 불명확해요."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3200" y="7856961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5C342"/>
                </a:solidFill>
                <a:latin typeface="Noto Sans KR"/>
              </a:defRPr>
            </a:pPr>
            <a:r>
              <a:rPr sz="1200" b="1" i="0" dirty="0">
                <a:solidFill>
                  <a:srgbClr val="C00000"/>
                </a:solidFill>
                <a:latin typeface="Noto Sans KR"/>
              </a:rPr>
              <a:t>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15715"/>
            <a:ext cx="21336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 dirty="0" err="1">
                <a:solidFill>
                  <a:srgbClr val="1A2E35"/>
                </a:solidFill>
                <a:latin typeface="Noto Sans KR"/>
              </a:rPr>
              <a:t>관계</a:t>
            </a:r>
            <a:r>
              <a:rPr sz="1800" b="1" i="0" dirty="0">
                <a:solidFill>
                  <a:srgbClr val="1A2E35"/>
                </a:solidFill>
                <a:latin typeface="Noto Sans KR"/>
              </a:rPr>
              <a:t>/</a:t>
            </a:r>
            <a:r>
              <a:rPr sz="1800" b="1" i="0" dirty="0" err="1">
                <a:solidFill>
                  <a:srgbClr val="1A2E35"/>
                </a:solidFill>
                <a:latin typeface="Noto Sans KR"/>
              </a:rPr>
              <a:t>소통</a:t>
            </a:r>
            <a:r>
              <a:rPr sz="18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800" b="1" i="0" dirty="0" err="1">
                <a:solidFill>
                  <a:srgbClr val="1A2E35"/>
                </a:solidFill>
                <a:latin typeface="Noto Sans KR"/>
              </a:rPr>
              <a:t>채널의</a:t>
            </a:r>
            <a:r>
              <a:rPr sz="18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800" b="1" i="0" dirty="0" err="1">
                <a:solidFill>
                  <a:srgbClr val="1A2E35"/>
                </a:solidFill>
                <a:latin typeface="Noto Sans KR"/>
              </a:rPr>
              <a:t>부재</a:t>
            </a:r>
            <a:endParaRPr sz="18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40450" y="5206248"/>
            <a:ext cx="4000500" cy="1184799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5550" y="5206248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>
                <a:solidFill>
                  <a:srgbClr val="5C7073"/>
                </a:solidFill>
                <a:latin typeface="Noto Sans KR"/>
              </a:rPr>
              <a:t>"다들 너무 바빠 보여서 사소한 질문하기가 눈치 보여요. 물어볼 사람이 마땅치 않아서 혼자 끙끙 앓다 실수한 적이 많습니다."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6158748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46C00"/>
                </a:solidFill>
                <a:latin typeface="Noto Sans KR"/>
              </a:defRPr>
            </a:pPr>
            <a:r>
              <a:rPr sz="1200" b="1" i="0" dirty="0" err="1">
                <a:solidFill>
                  <a:srgbClr val="77DA89"/>
                </a:solidFill>
                <a:latin typeface="Noto Sans KR"/>
              </a:rPr>
              <a:t>Jobplanet</a:t>
            </a:r>
            <a:endParaRPr sz="1200" b="1" i="0" dirty="0">
              <a:solidFill>
                <a:srgbClr val="77DA89"/>
              </a:solidFill>
              <a:latin typeface="Noto Sans K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65850" y="6897456"/>
            <a:ext cx="4000500" cy="1106491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0950" y="7063612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 dirty="0">
                <a:solidFill>
                  <a:srgbClr val="5C7073"/>
                </a:solidFill>
                <a:latin typeface="Noto Sans KR"/>
              </a:rPr>
              <a:t>"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재택근무가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많아지면서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팀원들과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유대감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쌓기가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어려워요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.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그냥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일만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하는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기계가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된 것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같은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소외감이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1" dirty="0" err="1">
                <a:solidFill>
                  <a:srgbClr val="5C7073"/>
                </a:solidFill>
                <a:latin typeface="Noto Sans KR"/>
              </a:rPr>
              <a:t>듭니다</a:t>
            </a:r>
            <a:r>
              <a:rPr sz="1400" b="0" i="1" dirty="0">
                <a:solidFill>
                  <a:srgbClr val="5C7073"/>
                </a:solidFill>
                <a:latin typeface="Noto Sans KR"/>
              </a:rPr>
              <a:t>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0950" y="7784348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5C342"/>
                </a:solidFill>
                <a:latin typeface="Noto Sans KR"/>
              </a:defRPr>
            </a:pPr>
            <a:r>
              <a:rPr sz="1200" b="1" i="0" dirty="0">
                <a:solidFill>
                  <a:srgbClr val="C00000"/>
                </a:solidFill>
                <a:latin typeface="Noto Sans KR"/>
              </a:rPr>
              <a:t>Blind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0" y="4851400"/>
            <a:ext cx="23495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성장/피드백 루프의 부재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98200" y="5221056"/>
            <a:ext cx="4000500" cy="11910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63300" y="5386156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>
                <a:solidFill>
                  <a:srgbClr val="5C7073"/>
                </a:solidFill>
                <a:latin typeface="Noto Sans KR"/>
              </a:rPr>
              <a:t>"제가 잘하고 있는지, 뭘 개선해야 하는지 정기적인 피드백이 없어요. 성장에 대한 불안감이 커집니다."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3300" y="6131011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46C00"/>
                </a:solidFill>
                <a:latin typeface="Noto Sans KR"/>
              </a:defRPr>
            </a:pPr>
            <a:r>
              <a:rPr sz="1200" b="1" i="0" dirty="0" err="1">
                <a:solidFill>
                  <a:srgbClr val="77DA89"/>
                </a:solidFill>
                <a:latin typeface="Noto Sans KR"/>
              </a:rPr>
              <a:t>Jobplanet</a:t>
            </a:r>
            <a:endParaRPr sz="1200" b="1" i="0" dirty="0">
              <a:solidFill>
                <a:srgbClr val="77DA89"/>
              </a:solidFill>
              <a:latin typeface="Noto Sans KR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91850" y="6897456"/>
            <a:ext cx="4000500" cy="10912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63300" y="7062556"/>
            <a:ext cx="3695700" cy="9271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5C7073"/>
                </a:solidFill>
                <a:latin typeface="Noto Sans KR"/>
              </a:defRPr>
            </a:pPr>
            <a:r>
              <a:rPr sz="1400" b="0" i="1">
                <a:solidFill>
                  <a:srgbClr val="5C7073"/>
                </a:solidFill>
                <a:latin typeface="Noto Sans KR"/>
              </a:rPr>
              <a:t>"결과물에 대한 피드백보다는 그냥 '수고했다'로 끝나는 경우가 많아요. 여기서 더 성장할 수 있을지 의문입니다."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0600" y="7819321"/>
            <a:ext cx="3695700" cy="26086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5C342"/>
                </a:solidFill>
                <a:latin typeface="Noto Sans KR"/>
              </a:defRPr>
            </a:pPr>
            <a:r>
              <a:rPr sz="1200" b="1" i="0" dirty="0">
                <a:solidFill>
                  <a:srgbClr val="C00000"/>
                </a:solidFill>
                <a:latin typeface="Noto Sans KR"/>
              </a:rPr>
              <a:t>Blind</a:t>
            </a:r>
          </a:p>
        </p:txBody>
      </p:sp>
      <p:pic>
        <p:nvPicPr>
          <p:cNvPr id="33" name="Picture 32" descr="a4cc604a-8f56-437d-9141-7b4a90a2a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00" y="2984500"/>
            <a:ext cx="266700" cy="304800"/>
          </a:xfrm>
          <a:prstGeom prst="rect">
            <a:avLst/>
          </a:prstGeom>
        </p:spPr>
      </p:pic>
      <p:pic>
        <p:nvPicPr>
          <p:cNvPr id="34" name="Picture 33" descr="6959ea03-5d02-4e70-bc42-0221741e91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984500"/>
            <a:ext cx="266700" cy="304800"/>
          </a:xfrm>
          <a:prstGeom prst="rect">
            <a:avLst/>
          </a:prstGeom>
        </p:spPr>
      </p:pic>
      <p:pic>
        <p:nvPicPr>
          <p:cNvPr id="35" name="Picture 34" descr="c58fc13d-2303-43d7-a79a-033756ae07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800" y="2984500"/>
            <a:ext cx="304800" cy="304800"/>
          </a:xfrm>
          <a:prstGeom prst="rect">
            <a:avLst/>
          </a:prstGeom>
        </p:spPr>
      </p:pic>
      <p:pic>
        <p:nvPicPr>
          <p:cNvPr id="36" name="Picture 35" descr="4551de7a-d184-44ee-ae36-cea234dd38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0" y="4318000"/>
            <a:ext cx="406400" cy="317623"/>
          </a:xfrm>
          <a:prstGeom prst="rect">
            <a:avLst/>
          </a:prstGeom>
        </p:spPr>
      </p:pic>
      <p:pic>
        <p:nvPicPr>
          <p:cNvPr id="37" name="Picture 36" descr="c8b34664-e2f7-49fa-95a3-5467376e9c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500" y="4318000"/>
            <a:ext cx="406400" cy="317623"/>
          </a:xfrm>
          <a:prstGeom prst="rect">
            <a:avLst/>
          </a:prstGeom>
        </p:spPr>
      </p:pic>
      <p:pic>
        <p:nvPicPr>
          <p:cNvPr id="38" name="Picture 18" descr="1c38bc8c-d932-44b0-aac5-1bcd44d59dac.png">
            <a:extLst>
              <a:ext uri="{FF2B5EF4-FFF2-40B4-BE49-F238E27FC236}">
                <a16:creationId xmlns:a16="http://schemas.microsoft.com/office/drawing/2014/main" id="{0BB80C2E-2736-7440-AF52-F2C9796131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149" y="4355568"/>
            <a:ext cx="412751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4965700"/>
            <a:ext cx="6959600" cy="3721100"/>
          </a:xfrm>
          <a:prstGeom prst="roundRect">
            <a:avLst>
              <a:gd name="adj" fmla="val 2359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80400" y="4965700"/>
            <a:ext cx="6959600" cy="3721100"/>
          </a:xfrm>
          <a:prstGeom prst="roundRect">
            <a:avLst>
              <a:gd name="adj" fmla="val 2359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Research Design (조사 설계 및 방법)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리뷰 250건을 수기 수집·정리, 코딩·태깅 및 빈도·패턴 분석으로 핵심 이슈를 도출했습니다.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0872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100300" y="8176646"/>
            <a:ext cx="1270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2425700"/>
            <a:ext cx="14224000" cy="2235200"/>
          </a:xfrm>
          <a:prstGeom prst="roundRect">
            <a:avLst>
              <a:gd name="adj" fmla="val 6818"/>
            </a:avLst>
          </a:prstGeom>
          <a:solidFill>
            <a:srgbClr val="E3F2FD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82800" y="2679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1500" y="3594100"/>
            <a:ext cx="12573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1. 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7700" y="3949700"/>
            <a:ext cx="1104900" cy="533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잡플래닛 152건</a:t>
            </a:r>
            <a:r>
              <a:t>
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블라인드 98건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4900" y="2679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4700" y="3594100"/>
            <a:ext cx="14478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2. 데이터 항목화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7900" y="3949700"/>
            <a:ext cx="1028700" cy="533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리뷰 원문</a:t>
            </a:r>
            <a:r>
              <a:t>
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엑셀 기반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2679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05700" y="3594100"/>
            <a:ext cx="12827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3. 코딩 &amp; 태깅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0300" y="3949700"/>
            <a:ext cx="1333500" cy="533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문장 단위 분해</a:t>
            </a:r>
            <a:r>
              <a:t>
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정성 데이터 정량화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79100" y="2679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10800" y="3594100"/>
            <a:ext cx="15240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4. 빈도/패턴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2400" y="3949700"/>
            <a:ext cx="1333500" cy="533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주요 키워드</a:t>
            </a:r>
            <a:r>
              <a:t>
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이슈 클러스터 도출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11200" y="26797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81000" y="3594100"/>
            <a:ext cx="14478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5. 인사이트 도출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44500" y="3949700"/>
            <a:ext cx="1333500" cy="533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핵심 문제 정의</a:t>
            </a:r>
            <a:r>
              <a:t>
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솔루션 방향성 수립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8800" y="5232400"/>
            <a:ext cx="2197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잡플래닛 리뷰 (152건)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0800" y="55731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 dirty="0">
                <a:solidFill>
                  <a:srgbClr val="5C7073"/>
                </a:solidFill>
                <a:latin typeface="Noto Sans KR"/>
              </a:rPr>
              <a:t>“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입사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첫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주에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뭘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해야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할지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몰라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막막했어요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사수도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바빠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보이고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...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눈치만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보다가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시간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 다 </a:t>
            </a:r>
            <a:r>
              <a:rPr sz="1400" b="0" i="0" dirty="0" err="1">
                <a:solidFill>
                  <a:srgbClr val="5C7073"/>
                </a:solidFill>
                <a:latin typeface="Noto Sans KR"/>
              </a:rPr>
              <a:t>갔네요</a:t>
            </a:r>
            <a:r>
              <a:rPr sz="1400" b="0" i="0" dirty="0">
                <a:solidFill>
                  <a:srgbClr val="5C7073"/>
                </a:solidFill>
                <a:latin typeface="Noto Sans KR"/>
              </a:rPr>
              <a:t>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0800" y="66780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“회사는 빠르게 크는데 체계가 없어요. 누가 어떤 일을 하는지, 어디까지 내 역할인지 명확하지 않아 혼란스럽습니다.”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0800" y="77829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“글로벌 브랜드라는 점은 좋은데, 신입 교육이나 온보딩은 거의 방치 수준. 알아서 살아남아야 하는 분위기.”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300" y="5232400"/>
            <a:ext cx="2070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블라인드 리뷰 (98건)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9000" y="55731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“사람들은 다 좋은데, 업무적으로 질문하기가 너무 어려워요. 다들 자기 일 하느라 정신없어 보임.”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9000" y="66780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“피드백을 받고 싶은데 요청할 채널이 마땅치 않아요. 내가 잘하고 있는 건지, 방향이 맞는지 모르겠어요.”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9000" y="7782946"/>
            <a:ext cx="6426200" cy="71550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“경력직은 괜찮을지 몰라도 신입은 힘들어요. 체계적인 가이드가 없어서 우왕좌왕하다가 지치는 구조.”</a:t>
            </a:r>
          </a:p>
        </p:txBody>
      </p:sp>
      <p:pic>
        <p:nvPicPr>
          <p:cNvPr id="32" name="Picture 31" descr="a2792ca1-0ed9-4b02-9a65-89a1338296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2908300"/>
            <a:ext cx="266700" cy="304800"/>
          </a:xfrm>
          <a:prstGeom prst="rect">
            <a:avLst/>
          </a:prstGeom>
        </p:spPr>
      </p:pic>
      <p:pic>
        <p:nvPicPr>
          <p:cNvPr id="33" name="Picture 32" descr="5800e3a5-e293-4c9f-a4a7-e9a1585dfe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0" y="2997200"/>
            <a:ext cx="190500" cy="304800"/>
          </a:xfrm>
          <a:prstGeom prst="rect">
            <a:avLst/>
          </a:prstGeom>
        </p:spPr>
      </p:pic>
      <p:pic>
        <p:nvPicPr>
          <p:cNvPr id="34" name="Picture 33" descr="97180fe5-c37f-4848-8adf-d9e09fd684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908300"/>
            <a:ext cx="228600" cy="304800"/>
          </a:xfrm>
          <a:prstGeom prst="rect">
            <a:avLst/>
          </a:prstGeom>
        </p:spPr>
      </p:pic>
      <p:pic>
        <p:nvPicPr>
          <p:cNvPr id="35" name="Picture 34" descr="5800e3a5-e293-4c9f-a4a7-e9a1585dfe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2997200"/>
            <a:ext cx="190500" cy="304800"/>
          </a:xfrm>
          <a:prstGeom prst="rect">
            <a:avLst/>
          </a:prstGeom>
        </p:spPr>
      </p:pic>
      <p:pic>
        <p:nvPicPr>
          <p:cNvPr id="36" name="Picture 35" descr="c537f66e-62d0-45b5-a021-22a38497cc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2908300"/>
            <a:ext cx="304800" cy="304800"/>
          </a:xfrm>
          <a:prstGeom prst="rect">
            <a:avLst/>
          </a:prstGeom>
        </p:spPr>
      </p:pic>
      <p:pic>
        <p:nvPicPr>
          <p:cNvPr id="37" name="Picture 36" descr="5800e3a5-e293-4c9f-a4a7-e9a1585dfe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2997200"/>
            <a:ext cx="190500" cy="304800"/>
          </a:xfrm>
          <a:prstGeom prst="rect">
            <a:avLst/>
          </a:prstGeom>
        </p:spPr>
      </p:pic>
      <p:pic>
        <p:nvPicPr>
          <p:cNvPr id="38" name="Picture 37" descr="fd6acdb4-9dfb-45e4-8845-cbe8dc435b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7700" y="2908300"/>
            <a:ext cx="304800" cy="304800"/>
          </a:xfrm>
          <a:prstGeom prst="rect">
            <a:avLst/>
          </a:prstGeom>
        </p:spPr>
      </p:pic>
      <p:pic>
        <p:nvPicPr>
          <p:cNvPr id="39" name="Picture 38" descr="5800e3a5-e293-4c9f-a4a7-e9a1585dfe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0" y="2997200"/>
            <a:ext cx="190500" cy="304800"/>
          </a:xfrm>
          <a:prstGeom prst="rect">
            <a:avLst/>
          </a:prstGeom>
        </p:spPr>
      </p:pic>
      <p:pic>
        <p:nvPicPr>
          <p:cNvPr id="40" name="Picture 39" descr="5b6754da-b9cb-4abf-a046-1d156e5cbd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7900" y="2908300"/>
            <a:ext cx="2286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8600" y="4356100"/>
            <a:ext cx="3594100" cy="1270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2E35"/>
                </a:solidFill>
                <a:latin typeface="Noto Sans KR"/>
              </a:defRPr>
            </a:pPr>
            <a:r>
              <a:rPr sz="1400" b="0" i="0">
                <a:solidFill>
                  <a:srgbClr val="1A2E35"/>
                </a:solidFill>
                <a:latin typeface="Noto Sans KR"/>
              </a:rPr>
              <a:t>입사 첫 주, 제 역할이 뭔지 아무도 명확히 알려주지 않았어요. 눈치껏 일을 찾아 해야 하는 분위기라 막막했습니다. 잡플래닛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8600" y="6083300"/>
            <a:ext cx="3594100" cy="1270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2E35"/>
                </a:solidFill>
                <a:latin typeface="Noto Sans KR"/>
              </a:defRPr>
            </a:pPr>
            <a:r>
              <a:rPr sz="1400" b="0" i="0">
                <a:solidFill>
                  <a:srgbClr val="1A2E35"/>
                </a:solidFill>
                <a:latin typeface="Noto Sans KR"/>
              </a:rPr>
              <a:t>업무 히스토리나 우선순위에 대한 가이드가 없어서, 혼자 맨땅에 헤딩하는 기분. 사수가 있긴 한데 너무 바빠 보여요. 블라인드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8700" y="4762500"/>
            <a:ext cx="3594100" cy="1270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2E35"/>
                </a:solidFill>
                <a:latin typeface="Noto Sans KR"/>
              </a:defRPr>
            </a:pPr>
            <a:r>
              <a:rPr sz="1400" b="0" i="0">
                <a:solidFill>
                  <a:srgbClr val="1A2E35"/>
                </a:solidFill>
                <a:latin typeface="Noto Sans KR"/>
              </a:rPr>
              <a:t>내가 잘하고 있는지, 앞으로 어떻게 성장해야 할지 피드백을 받을 기회가 거의 없어요. 커리어 성장이 정체된 기분이에요.잡플래닛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주요 Insight: 신규 입사자 이탈 원인 Top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핵심 원인은 ‘힘든 일’이 아닌 초기 가이드 부재와 소외감에서 비롯됩니다.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0871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16000" y="2552700"/>
            <a:ext cx="4533900" cy="58293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90700" y="3390900"/>
            <a:ext cx="23495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2000" b="1" i="0">
                <a:solidFill>
                  <a:srgbClr val="1A2E35"/>
                </a:solidFill>
                <a:latin typeface="Noto Sans KR"/>
              </a:rPr>
              <a:t>① Role Clarity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9600" y="3835400"/>
            <a:ext cx="21717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무엇을 / 왜 / 어떻게 / 누구와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4700" y="2552700"/>
            <a:ext cx="4533900" cy="58293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1200" y="3429000"/>
            <a:ext cx="21590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2000" b="1" i="0">
                <a:solidFill>
                  <a:srgbClr val="1A2E35"/>
                </a:solidFill>
                <a:latin typeface="Noto Sans KR"/>
              </a:rPr>
              <a:t>② Belonging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3873500"/>
            <a:ext cx="28067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관계 형성 / 질문 채널 / 심리적 안전감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06100" y="2552700"/>
            <a:ext cx="4533900" cy="58293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85600" y="3429000"/>
            <a:ext cx="23876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2000" b="1" i="0">
                <a:solidFill>
                  <a:srgbClr val="1A2E35"/>
                </a:solidFill>
                <a:latin typeface="Noto Sans KR"/>
              </a:rPr>
              <a:t>③ 성장/피드백 모호함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33200" y="3873500"/>
            <a:ext cx="26924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(부차 원인) 체계적인 성장 경로 부재</a:t>
            </a:r>
          </a:p>
        </p:txBody>
      </p:sp>
      <p:pic>
        <p:nvPicPr>
          <p:cNvPr id="26" name="Picture 25" descr="61bc4e85-6218-40a4-93b3-cf96f1b1e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2870200"/>
            <a:ext cx="508000" cy="406400"/>
          </a:xfrm>
          <a:prstGeom prst="rect">
            <a:avLst/>
          </a:prstGeom>
        </p:spPr>
      </p:pic>
      <p:pic>
        <p:nvPicPr>
          <p:cNvPr id="29" name="Picture 28" descr="b729d72e-f823-4383-8f80-aa58bd5afc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0" y="2870200"/>
            <a:ext cx="406400" cy="406400"/>
          </a:xfrm>
          <a:prstGeom prst="rect">
            <a:avLst/>
          </a:prstGeom>
        </p:spPr>
      </p:pic>
      <p:pic>
        <p:nvPicPr>
          <p:cNvPr id="33" name="Picture 35" descr="4551de7a-d184-44ee-ae36-cea234dd38e8.png">
            <a:extLst>
              <a:ext uri="{FF2B5EF4-FFF2-40B4-BE49-F238E27FC236}">
                <a16:creationId xmlns:a16="http://schemas.microsoft.com/office/drawing/2014/main" id="{79907C3A-5C8D-3E6C-5E3C-F3672A3D6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550" y="2895600"/>
            <a:ext cx="406400" cy="317623"/>
          </a:xfrm>
          <a:prstGeom prst="rect">
            <a:avLst/>
          </a:prstGeom>
        </p:spPr>
      </p:pic>
      <p:pic>
        <p:nvPicPr>
          <p:cNvPr id="35" name="그림 3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C9DBF5-45F9-B0A1-DCE9-47BFACF4C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405" y="4459287"/>
            <a:ext cx="4267090" cy="3592513"/>
          </a:xfrm>
          <a:prstGeom prst="rect">
            <a:avLst/>
          </a:prstGeom>
        </p:spPr>
      </p:pic>
      <p:pic>
        <p:nvPicPr>
          <p:cNvPr id="37" name="그림 3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B7875B-8641-4ABC-364D-657AB5D982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574" y="4499239"/>
            <a:ext cx="4213225" cy="3457311"/>
          </a:xfrm>
          <a:prstGeom prst="rect">
            <a:avLst/>
          </a:prstGeom>
        </p:spPr>
      </p:pic>
      <p:pic>
        <p:nvPicPr>
          <p:cNvPr id="39" name="그림 3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82544F-2233-19B8-74D9-5E656C8C9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4700" y="5075624"/>
            <a:ext cx="4089400" cy="1761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MZ 신입사원 타깃 페르소나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MZ세대는 명확한 방향성·수평 소통·실질 성장 루프를 원합니다.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0122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38400" y="8509000"/>
            <a:ext cx="1270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552700"/>
            <a:ext cx="4483100" cy="5829300"/>
          </a:xfrm>
          <a:prstGeom prst="roundRect">
            <a:avLst>
              <a:gd name="adj" fmla="val 3399"/>
            </a:avLst>
          </a:prstGeom>
          <a:solidFill>
            <a:srgbClr val="F8F9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20900" y="2908300"/>
            <a:ext cx="2819400" cy="5207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E35"/>
                </a:solidFill>
                <a:latin typeface="Noto Sans KR"/>
              </a:defRPr>
            </a:pPr>
            <a:r>
              <a:rPr sz="2400" b="1" i="0">
                <a:solidFill>
                  <a:srgbClr val="1A2E35"/>
                </a:solidFill>
                <a:latin typeface="Noto Sans KR"/>
              </a:rPr>
              <a:t>기대 (Expectations)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6576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빠른 성장과 실질적인 업무 기여를 통해 역량을 증명하고 싶다.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45085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글로벌 브랜드 COSRX의 일원으로서 커리어를 빌드업 하고 싶다.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53594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내가 사랑하는 브랜드와 함께 성장한다는 자부심을 느끼고 싶다.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0100" y="2552700"/>
            <a:ext cx="4483100" cy="5829300"/>
          </a:xfrm>
          <a:prstGeom prst="roundRect">
            <a:avLst>
              <a:gd name="adj" fmla="val 3399"/>
            </a:avLst>
          </a:prstGeom>
          <a:solidFill>
            <a:srgbClr val="F8F9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5000" y="2908300"/>
            <a:ext cx="2273300" cy="5207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E35"/>
                </a:solidFill>
                <a:latin typeface="Noto Sans KR"/>
              </a:defRPr>
            </a:pPr>
            <a:r>
              <a:rPr sz="2400" b="1" i="0">
                <a:solidFill>
                  <a:srgbClr val="1A2E35"/>
                </a:solidFill>
                <a:latin typeface="Noto Sans KR"/>
              </a:rPr>
              <a:t>불안 (Anxieties)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6576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업무의 우선순위와 방향성이 불명확하여 무엇부터 해야 할지 막막하다.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45085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내 역할에 대한 팀의 구체적인 기대 수준을 몰라 불안하다.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53594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피드백이 없어 내가 잘하고 있는지, 어떻게 개선해야 할지 알 수 없다.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56900" y="2552700"/>
            <a:ext cx="4483100" cy="5829300"/>
          </a:xfrm>
          <a:prstGeom prst="roundRect">
            <a:avLst>
              <a:gd name="adj" fmla="val 3399"/>
            </a:avLst>
          </a:prstGeom>
          <a:solidFill>
            <a:srgbClr val="F8F9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61800" y="2908300"/>
            <a:ext cx="1828800" cy="5207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E35"/>
                </a:solidFill>
                <a:latin typeface="Noto Sans KR"/>
              </a:defRPr>
            </a:pPr>
            <a:r>
              <a:rPr sz="2400" b="1" i="0">
                <a:solidFill>
                  <a:srgbClr val="1A2E35"/>
                </a:solidFill>
                <a:latin typeface="Noto Sans KR"/>
              </a:rPr>
              <a:t>요구 (Needs)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5400" y="36576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초기 적응을 돕는 명확하고 구조화된 온보딩 가이드가 필요하다.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5400" y="45085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직급에 상관없이 자유롭게 질문하고 답변받는 수평적 소통 채널이 필요하다.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55400" y="5359400"/>
            <a:ext cx="3416300" cy="723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나의 성장을 돕는 구체적이고 정기적인 피드백 루프를 원한다.</a:t>
            </a:r>
          </a:p>
        </p:txBody>
      </p:sp>
      <p:pic>
        <p:nvPicPr>
          <p:cNvPr id="21" name="Picture 20" descr="0af6239c-c03a-4acc-90f1-e3542500fc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2933700"/>
            <a:ext cx="508000" cy="406400"/>
          </a:xfrm>
          <a:prstGeom prst="rect">
            <a:avLst/>
          </a:prstGeom>
        </p:spPr>
      </p:pic>
      <p:pic>
        <p:nvPicPr>
          <p:cNvPr id="22" name="Picture 21" descr="5dcb269a-b68e-470e-a07b-0c90f2fc3b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3708400"/>
            <a:ext cx="152400" cy="177800"/>
          </a:xfrm>
          <a:prstGeom prst="rect">
            <a:avLst/>
          </a:prstGeom>
        </p:spPr>
      </p:pic>
      <p:pic>
        <p:nvPicPr>
          <p:cNvPr id="23" name="Picture 22" descr="5dcb269a-b68e-470e-a07b-0c90f2fc3b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4559300"/>
            <a:ext cx="152400" cy="177800"/>
          </a:xfrm>
          <a:prstGeom prst="rect">
            <a:avLst/>
          </a:prstGeom>
        </p:spPr>
      </p:pic>
      <p:pic>
        <p:nvPicPr>
          <p:cNvPr id="24" name="Picture 23" descr="5dcb269a-b68e-470e-a07b-0c90f2fc3b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5410200"/>
            <a:ext cx="152400" cy="177800"/>
          </a:xfrm>
          <a:prstGeom prst="rect">
            <a:avLst/>
          </a:prstGeom>
        </p:spPr>
      </p:pic>
      <p:pic>
        <p:nvPicPr>
          <p:cNvPr id="25" name="Picture 24" descr="9b46e5f1-f354-4dda-9b8d-2ae02ecb37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0" y="2933700"/>
            <a:ext cx="508000" cy="406400"/>
          </a:xfrm>
          <a:prstGeom prst="rect">
            <a:avLst/>
          </a:prstGeom>
        </p:spPr>
      </p:pic>
      <p:pic>
        <p:nvPicPr>
          <p:cNvPr id="26" name="Picture 25" descr="3f58c8f5-582b-4ab0-84ab-253cef0306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3708400"/>
            <a:ext cx="152400" cy="177800"/>
          </a:xfrm>
          <a:prstGeom prst="rect">
            <a:avLst/>
          </a:prstGeom>
        </p:spPr>
      </p:pic>
      <p:pic>
        <p:nvPicPr>
          <p:cNvPr id="27" name="Picture 26" descr="3f58c8f5-582b-4ab0-84ab-253cef0306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4559300"/>
            <a:ext cx="152400" cy="177800"/>
          </a:xfrm>
          <a:prstGeom prst="rect">
            <a:avLst/>
          </a:prstGeom>
        </p:spPr>
      </p:pic>
      <p:pic>
        <p:nvPicPr>
          <p:cNvPr id="28" name="Picture 27" descr="3f58c8f5-582b-4ab0-84ab-253cef0306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5410200"/>
            <a:ext cx="152400" cy="177800"/>
          </a:xfrm>
          <a:prstGeom prst="rect">
            <a:avLst/>
          </a:prstGeom>
        </p:spPr>
      </p:pic>
      <p:pic>
        <p:nvPicPr>
          <p:cNvPr id="29" name="Picture 28" descr="4f386aba-a6f1-4d18-9ab6-be2ecd79d66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0600" y="2933700"/>
            <a:ext cx="508000" cy="406400"/>
          </a:xfrm>
          <a:prstGeom prst="rect">
            <a:avLst/>
          </a:prstGeom>
        </p:spPr>
      </p:pic>
      <p:pic>
        <p:nvPicPr>
          <p:cNvPr id="30" name="Picture 29" descr="f3b5b140-69e6-4161-8e8d-c2c9161e4c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0600" y="3708400"/>
            <a:ext cx="152400" cy="177800"/>
          </a:xfrm>
          <a:prstGeom prst="rect">
            <a:avLst/>
          </a:prstGeom>
        </p:spPr>
      </p:pic>
      <p:pic>
        <p:nvPicPr>
          <p:cNvPr id="31" name="Picture 30" descr="f3b5b140-69e6-4161-8e8d-c2c9161e4c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0600" y="4559300"/>
            <a:ext cx="152400" cy="177800"/>
          </a:xfrm>
          <a:prstGeom prst="rect">
            <a:avLst/>
          </a:prstGeom>
        </p:spPr>
      </p:pic>
      <p:pic>
        <p:nvPicPr>
          <p:cNvPr id="32" name="Picture 31" descr="f3b5b140-69e6-4161-8e8d-c2c9161e4c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0600" y="5410200"/>
            <a:ext cx="1524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Benchmark Frame: 더마/클린 경쟁사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9934" y="1706905"/>
            <a:ext cx="14201986" cy="383977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i="0" dirty="0" err="1">
                <a:solidFill>
                  <a:srgbClr val="25A1B8"/>
                </a:solidFill>
                <a:latin typeface="Noto Sans KR"/>
              </a:rPr>
              <a:t>경쟁사들은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온보딩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구조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,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소통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공식화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,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브랜드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정체성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내부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적용에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 </a:t>
            </a:r>
            <a:r>
              <a:rPr sz="2000" i="0" dirty="0" err="1">
                <a:solidFill>
                  <a:srgbClr val="25A1B8"/>
                </a:solidFill>
                <a:latin typeface="Noto Sans KR"/>
              </a:rPr>
              <a:t>집중합니다</a:t>
            </a:r>
            <a:r>
              <a:rPr sz="2000" i="0" dirty="0">
                <a:solidFill>
                  <a:srgbClr val="25A1B8"/>
                </a:solidFill>
                <a:latin typeface="Noto Sans KR"/>
              </a:rPr>
              <a:t>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16000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38400" y="8509000"/>
            <a:ext cx="1270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9</a:t>
            </a:r>
          </a:p>
        </p:txBody>
      </p:sp>
      <p:pic>
        <p:nvPicPr>
          <p:cNvPr id="7" name="Picture 3" descr="33326adc-396e-4f7d-b38c-7d1fefc84325.png">
            <a:extLst>
              <a:ext uri="{FF2B5EF4-FFF2-40B4-BE49-F238E27FC236}">
                <a16:creationId xmlns:a16="http://schemas.microsoft.com/office/drawing/2014/main" id="{FFE470CC-DB6A-0184-EF4C-7910D721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00300"/>
            <a:ext cx="14224000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경쟁사 인사이트 ① 닥터지 (Dr.G)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‘더마’ 강점 기반, 전문성 중심의 원칙/소통/온보딩을 강화한다.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9748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 descr="텍스트, 명함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748065-C2DF-A5B6-54DB-4AD4D8D33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3" y="2583929"/>
            <a:ext cx="15367573" cy="65600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경쟁사 인사이트 ② 라운드랩 (Round 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‘클린·원료’ 스토리 일관성을 온보딩/커뮤니케이션에도 확장시킨다.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81246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16000" y="2552700"/>
            <a:ext cx="6400800" cy="4445000"/>
          </a:xfrm>
          <a:prstGeom prst="roundRect">
            <a:avLst>
              <a:gd name="adj" fmla="val 3428"/>
            </a:avLst>
          </a:prstGeom>
          <a:solidFill>
            <a:srgbClr val="F8F9FA"/>
          </a:solidFill>
          <a:ln w="254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25600" y="2882900"/>
            <a:ext cx="5486400" cy="660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외부 브랜딩 (External Branding)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25600" y="3467100"/>
            <a:ext cx="5461000" cy="0"/>
          </a:xfrm>
          <a:prstGeom prst="line">
            <a:avLst/>
          </a:prstGeom>
          <a:ln w="25400">
            <a:solidFill>
              <a:srgbClr val="DE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46200" y="3733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84400" y="3721100"/>
            <a:ext cx="3848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클린 &amp; 원료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4400" y="4102100"/>
            <a:ext cx="38481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깨끗한 원료 스토리를 통해 브랜드의 진정성 강조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6200" y="46863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84400" y="4673600"/>
            <a:ext cx="40259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진정 &amp; 투명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4400" y="5054600"/>
            <a:ext cx="40259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자극적이지 않고 투명한 메시지로 고객과 신뢰 형성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6200" y="5638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400" y="5626100"/>
            <a:ext cx="38481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일관된 제품 경험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4400" y="6007100"/>
            <a:ext cx="38481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모든 제품 라인에서 동일한 브랜드 톤앤매너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940756"/>
            <a:ext cx="1625600" cy="507087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 dirty="0">
                <a:solidFill>
                  <a:srgbClr val="5C7073"/>
                </a:solidFill>
                <a:latin typeface="Noto Sans KR"/>
              </a:rPr>
              <a:t>BRANDING</a:t>
            </a:r>
            <a:r>
              <a:rPr sz="1400" b="1" dirty="0"/>
              <a:t>
</a:t>
            </a:r>
            <a:r>
              <a:rPr sz="1400" b="1" i="0" dirty="0">
                <a:solidFill>
                  <a:srgbClr val="5C7073"/>
                </a:solidFill>
                <a:latin typeface="Noto Sans KR"/>
              </a:rPr>
              <a:t>TRANSLATION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9200" y="2552700"/>
            <a:ext cx="6400800" cy="4445000"/>
          </a:xfrm>
          <a:prstGeom prst="roundRect">
            <a:avLst>
              <a:gd name="adj" fmla="val 3428"/>
            </a:avLst>
          </a:prstGeom>
          <a:solidFill>
            <a:srgbClr val="F8F9FA"/>
          </a:solidFill>
          <a:ln w="254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5000" y="2882900"/>
            <a:ext cx="5422900" cy="660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내부 문화 &amp; 온보딩 (Internal Culture)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25000" y="3467100"/>
            <a:ext cx="5397500" cy="0"/>
          </a:xfrm>
          <a:prstGeom prst="line">
            <a:avLst/>
          </a:prstGeom>
          <a:ln w="25400">
            <a:solidFill>
              <a:srgbClr val="DE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69400" y="3733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07600" y="3721100"/>
            <a:ext cx="42545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명확한 온보딩 가이드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7600" y="4102100"/>
            <a:ext cx="42545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브랜드 철학이 담긴 키트로 신규 입사자의 혼란 최소화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9400" y="46863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07600" y="4673600"/>
            <a:ext cx="39624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투명한 커뮤니케이션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7600" y="5054600"/>
            <a:ext cx="39624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외부 메시지와 동일한 '솔직하고 투명한' 소통 문화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9400" y="5638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07600" y="56261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일관된 직원 경험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7600" y="6007100"/>
            <a:ext cx="39243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내/외부 경험의 일치를 통해 구성원의 소속감 증대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000" y="7251700"/>
            <a:ext cx="14224000" cy="1193800"/>
          </a:xfrm>
          <a:prstGeom prst="roundRect">
            <a:avLst>
              <a:gd name="adj" fmla="val 8510"/>
            </a:avLst>
          </a:prstGeom>
          <a:solidFill>
            <a:srgbClr val="E3F2FD"/>
          </a:solidFill>
          <a:ln w="25400">
            <a:solidFill>
              <a:schemeClr val="bg1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05000" y="7531100"/>
            <a:ext cx="69088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시사점 (Implication for COSRX)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5000" y="7861300"/>
            <a:ext cx="69088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7073"/>
                </a:solidFill>
                <a:latin typeface="Noto Sans KR"/>
              </a:defRPr>
            </a:pPr>
            <a:r>
              <a:rPr sz="1600" b="0" i="0">
                <a:solidFill>
                  <a:srgbClr val="5C7073"/>
                </a:solidFill>
                <a:latin typeface="Noto Sans KR"/>
              </a:rPr>
              <a:t>외부 브랜딩의 강점('처방')을 내부 온보딩/소통 경험으로 일관되게 확장할 수 있다.</a:t>
            </a:r>
          </a:p>
        </p:txBody>
      </p:sp>
      <p:pic>
        <p:nvPicPr>
          <p:cNvPr id="33" name="Picture 32" descr="20f2c27b-a832-4df0-9624-4c0c6943f1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863850"/>
            <a:ext cx="279400" cy="279400"/>
          </a:xfrm>
          <a:prstGeom prst="rect">
            <a:avLst/>
          </a:prstGeom>
        </p:spPr>
      </p:pic>
      <p:pic>
        <p:nvPicPr>
          <p:cNvPr id="34" name="Picture 33" descr="ee3789fb-9aa7-4d26-91fb-c904141a77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3898900"/>
            <a:ext cx="304800" cy="304800"/>
          </a:xfrm>
          <a:prstGeom prst="rect">
            <a:avLst/>
          </a:prstGeom>
        </p:spPr>
      </p:pic>
      <p:pic>
        <p:nvPicPr>
          <p:cNvPr id="35" name="Picture 34" descr="4a864a2d-50b7-425a-a620-1df71c27e8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4851400"/>
            <a:ext cx="342900" cy="304800"/>
          </a:xfrm>
          <a:prstGeom prst="rect">
            <a:avLst/>
          </a:prstGeom>
        </p:spPr>
      </p:pic>
      <p:pic>
        <p:nvPicPr>
          <p:cNvPr id="36" name="Picture 35" descr="6776397b-7d90-47e3-a51c-23f32e0ed7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5803900"/>
            <a:ext cx="381000" cy="304800"/>
          </a:xfrm>
          <a:prstGeom prst="rect">
            <a:avLst/>
          </a:prstGeom>
        </p:spPr>
      </p:pic>
      <p:pic>
        <p:nvPicPr>
          <p:cNvPr id="37" name="Picture 36" descr="e8510923-7a0b-4f53-b06b-fcdbe9beda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200" y="4152900"/>
            <a:ext cx="609600" cy="609600"/>
          </a:xfrm>
          <a:prstGeom prst="rect">
            <a:avLst/>
          </a:prstGeom>
        </p:spPr>
      </p:pic>
      <p:pic>
        <p:nvPicPr>
          <p:cNvPr id="38" name="Picture 37" descr="a530a54a-1d6a-4f42-a459-eaf9515b16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5100" y="2893291"/>
            <a:ext cx="355600" cy="279400"/>
          </a:xfrm>
          <a:prstGeom prst="rect">
            <a:avLst/>
          </a:prstGeom>
        </p:spPr>
      </p:pic>
      <p:pic>
        <p:nvPicPr>
          <p:cNvPr id="39" name="Picture 38" descr="acef2a71-ef5f-41f8-a47f-25bf91df94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800" y="3898900"/>
            <a:ext cx="342900" cy="304800"/>
          </a:xfrm>
          <a:prstGeom prst="rect">
            <a:avLst/>
          </a:prstGeom>
        </p:spPr>
      </p:pic>
      <p:pic>
        <p:nvPicPr>
          <p:cNvPr id="40" name="Picture 39" descr="7f27ae9a-2030-4d53-bf1c-8470f1d373a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4851400"/>
            <a:ext cx="381000" cy="304800"/>
          </a:xfrm>
          <a:prstGeom prst="rect">
            <a:avLst/>
          </a:prstGeom>
        </p:spPr>
      </p:pic>
      <p:pic>
        <p:nvPicPr>
          <p:cNvPr id="41" name="Picture 40" descr="dc565b14-4c79-4bf6-8b80-a153f4dd2fe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0" y="5803900"/>
            <a:ext cx="304800" cy="304800"/>
          </a:xfrm>
          <a:prstGeom prst="rect">
            <a:avLst/>
          </a:prstGeom>
        </p:spPr>
      </p:pic>
      <p:pic>
        <p:nvPicPr>
          <p:cNvPr id="42" name="Picture 41" descr="b5c360f7-5063-4cd9-871c-dcbdc9caaf1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6200" y="7645400"/>
            <a:ext cx="3048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Program Journey Map (Pre-boarding ~ 90일)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온보딩을 ‘처방 프로세스(진단-처방-경과체크)’로 재설계하여, 신규 입사자의 연착륙을 돕습니다.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71621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16000" y="28575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>
            <a:noFill/>
          </a:ln>
          <a:effectLst>
            <a:outerShdw blurRad="152400" dist="508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59000" y="4114800"/>
            <a:ext cx="5334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673600"/>
            <a:ext cx="2184400" cy="990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입사 초기 역할 모호성과 관계 형성의 어려움을 조직의 핵심 문제로 진단합니다.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0" y="28575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>
            <a:noFill/>
          </a:ln>
          <a:effectLst>
            <a:outerShdw blurRad="152400" dist="508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9000" y="4114800"/>
            <a:ext cx="5334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처방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0" y="4673600"/>
            <a:ext cx="2184400" cy="990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직무 처방전, 멘토 매칭 등 명확한 가이드와 심리적 안전망을 제공합니다.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6000" y="28575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>
            <a:noFill/>
          </a:ln>
          <a:effectLst>
            <a:outerShdw blurRad="152400" dist="508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74200" y="4114800"/>
            <a:ext cx="11303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복약 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0" y="4673600"/>
            <a:ext cx="2184400" cy="990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온보딩 킷과 가이드를 통해 ‘처방’의 효과적인 활용법을 안내합니다.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46000" y="28575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 blurRad="152400" dist="50800" dir="900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84200" y="4064000"/>
            <a:ext cx="1130300" cy="482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2E35"/>
                </a:solidFill>
                <a:latin typeface="Noto Sans KR"/>
              </a:defRPr>
            </a:pPr>
            <a:r>
              <a:rPr sz="2200" b="1" i="0">
                <a:solidFill>
                  <a:srgbClr val="1A2E35"/>
                </a:solidFill>
                <a:latin typeface="Noto Sans KR"/>
              </a:rPr>
              <a:t>경과 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500" y="4622800"/>
            <a:ext cx="2184400" cy="1295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7073"/>
                </a:solidFill>
                <a:latin typeface="Noto Sans KR"/>
              </a:defRPr>
            </a:pPr>
            <a:r>
              <a:rPr sz="1500" b="0" i="0">
                <a:solidFill>
                  <a:srgbClr val="5C7073"/>
                </a:solidFill>
                <a:latin typeface="Noto Sans KR"/>
              </a:rPr>
              <a:t>정기적 체크인과 타운홀 미팅으로 적응 과정을 지속적으로 확인하고 피드백합니다.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6000" y="7429500"/>
            <a:ext cx="14224000" cy="91440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8000" y="7721600"/>
            <a:ext cx="82042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2E35"/>
                </a:solidFill>
                <a:latin typeface="Noto Sans KR"/>
              </a:defRPr>
            </a:pPr>
            <a:r>
              <a:rPr sz="1800" b="0" i="0">
                <a:solidFill>
                  <a:srgbClr val="1A2E35"/>
                </a:solidFill>
                <a:latin typeface="Noto Sans KR"/>
              </a:rPr>
              <a:t>기대 효과: 신규 입사자의 </a:t>
            </a:r>
            <a:r>
              <a:rPr sz="1800" b="1" i="0">
                <a:solidFill>
                  <a:srgbClr val="1A2E35"/>
                </a:solidFill>
                <a:latin typeface="Noto Sans KR"/>
              </a:rPr>
              <a:t>가이드 부재, 관계 단절, 성장 정체</a:t>
            </a:r>
            <a:r>
              <a:rPr sz="1800" b="0" i="0">
                <a:solidFill>
                  <a:srgbClr val="1A2E35"/>
                </a:solidFill>
                <a:latin typeface="Noto Sans KR"/>
              </a:rPr>
              <a:t> 3대 불안 요소 체계적 관리</a:t>
            </a:r>
          </a:p>
        </p:txBody>
      </p:sp>
      <p:pic>
        <p:nvPicPr>
          <p:cNvPr id="20" name="Picture 19" descr="9e1f59c9-35e4-4690-b2da-d928b9d289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225800"/>
            <a:ext cx="685800" cy="635000"/>
          </a:xfrm>
          <a:prstGeom prst="rect">
            <a:avLst/>
          </a:prstGeom>
        </p:spPr>
      </p:pic>
      <p:pic>
        <p:nvPicPr>
          <p:cNvPr id="21" name="Picture 20" descr="695fc50d-ac56-45a0-829a-5337d47e0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4381500"/>
            <a:ext cx="508000" cy="508000"/>
          </a:xfrm>
          <a:prstGeom prst="rect">
            <a:avLst/>
          </a:prstGeom>
        </p:spPr>
      </p:pic>
      <p:pic>
        <p:nvPicPr>
          <p:cNvPr id="22" name="Picture 21" descr="0246699c-a715-47df-830b-136f88359c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225800"/>
            <a:ext cx="457200" cy="635000"/>
          </a:xfrm>
          <a:prstGeom prst="rect">
            <a:avLst/>
          </a:prstGeom>
        </p:spPr>
      </p:pic>
      <p:pic>
        <p:nvPicPr>
          <p:cNvPr id="23" name="Picture 22" descr="695fc50d-ac56-45a0-829a-5337d47e0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4381500"/>
            <a:ext cx="508000" cy="508000"/>
          </a:xfrm>
          <a:prstGeom prst="rect">
            <a:avLst/>
          </a:prstGeom>
        </p:spPr>
      </p:pic>
      <p:pic>
        <p:nvPicPr>
          <p:cNvPr id="24" name="Picture 23" descr="bc8d4687-245d-497b-89e3-a1903800d7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100" y="3225800"/>
            <a:ext cx="685800" cy="635000"/>
          </a:xfrm>
          <a:prstGeom prst="rect">
            <a:avLst/>
          </a:prstGeom>
        </p:spPr>
      </p:pic>
      <p:pic>
        <p:nvPicPr>
          <p:cNvPr id="25" name="Picture 24" descr="695fc50d-ac56-45a0-829a-5337d47e0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0" y="4381500"/>
            <a:ext cx="508000" cy="508000"/>
          </a:xfrm>
          <a:prstGeom prst="rect">
            <a:avLst/>
          </a:prstGeom>
        </p:spPr>
      </p:pic>
      <p:pic>
        <p:nvPicPr>
          <p:cNvPr id="26" name="Picture 25" descr="84fdc0cc-74a9-4701-80e7-153a3538d8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4400" y="3175000"/>
            <a:ext cx="457200" cy="635000"/>
          </a:xfrm>
          <a:prstGeom prst="rect">
            <a:avLst/>
          </a:prstGeom>
        </p:spPr>
      </p:pic>
      <p:pic>
        <p:nvPicPr>
          <p:cNvPr id="28" name="Picture 27" descr="52960449-c502-4fb3-91d9-5acacc6eec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200" y="7683500"/>
            <a:ext cx="3048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5300" y="2901950"/>
            <a:ext cx="1511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Pre-boarding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5300" y="3282950"/>
            <a:ext cx="15113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입사 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3300" y="5067300"/>
            <a:ext cx="3276600" cy="1651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50" y="4737101"/>
            <a:ext cx="25654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환영과</a:t>
            </a:r>
            <a:r>
              <a:rPr sz="16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준비</a:t>
            </a:r>
            <a:endParaRPr sz="16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2700" y="51816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웰컴가이드 발송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2700" y="55499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브랜드 핵심 가치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2700" y="59182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첫 출근 준비사항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8600" y="2901950"/>
            <a:ext cx="17272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Day 1 ~ 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8600" y="3282950"/>
            <a:ext cx="17272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초기 적응기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0750" y="5092700"/>
            <a:ext cx="3276600" cy="1651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7950" y="4762500"/>
            <a:ext cx="25908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역할</a:t>
            </a:r>
            <a:r>
              <a:rPr sz="16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명확화</a:t>
            </a:r>
            <a:endParaRPr sz="16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27600" y="51816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RX Onboarding Kit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7600" y="55499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직무 처방전(R&amp;R)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7600" y="59182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멘토/버디 매칭 및 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7200" y="2901950"/>
            <a:ext cx="9525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1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7200" y="3282950"/>
            <a:ext cx="9525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업무 몰입기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7400" y="5092700"/>
            <a:ext cx="3276600" cy="1651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0150" y="4775200"/>
            <a:ext cx="26162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소통</a:t>
            </a:r>
            <a:r>
              <a:rPr sz="1600" b="1" i="0" dirty="0">
                <a:solidFill>
                  <a:srgbClr val="1A2E35"/>
                </a:solidFill>
                <a:latin typeface="Noto Sans KR"/>
              </a:rPr>
              <a:t> 및 </a:t>
            </a: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연결</a:t>
            </a:r>
            <a:endParaRPr sz="16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85200" y="51816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Open RX 타운홀 참여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5200" y="55499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첫 1:1 피드백 체크인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5200" y="59182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팀/협업 부서와 관계 형성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41300" y="2901950"/>
            <a:ext cx="10668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800" b="1" i="0">
                <a:solidFill>
                  <a:srgbClr val="1A2E35"/>
                </a:solidFill>
                <a:latin typeface="Noto Sans KR"/>
              </a:rPr>
              <a:t>3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41300" y="3282950"/>
            <a:ext cx="1066800" cy="330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성과 창출기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22150" y="5092700"/>
            <a:ext cx="3276600" cy="1651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490450" y="4813301"/>
            <a:ext cx="25654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성장</a:t>
            </a:r>
            <a:r>
              <a:rPr sz="1600" b="1" i="0" dirty="0">
                <a:solidFill>
                  <a:srgbClr val="1A2E35"/>
                </a:solidFill>
                <a:latin typeface="Noto Sans KR"/>
              </a:rPr>
              <a:t> 및 </a:t>
            </a:r>
            <a:r>
              <a:rPr sz="1600" b="1" i="0" dirty="0" err="1">
                <a:solidFill>
                  <a:srgbClr val="1A2E35"/>
                </a:solidFill>
                <a:latin typeface="Noto Sans KR"/>
              </a:rPr>
              <a:t>기여</a:t>
            </a:r>
            <a:endParaRPr sz="1600" b="1" i="0" dirty="0">
              <a:solidFill>
                <a:srgbClr val="1A2E35"/>
              </a:solidFill>
              <a:latin typeface="Noto Sans K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230100" y="51816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관계/성과 종합 점검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0100" y="55499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온보딩 경험 회고 및 피드백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5918200"/>
            <a:ext cx="2768600" cy="3429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· FAQ/경험 자산 아카이빙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700" y="3962400"/>
            <a:ext cx="14224000" cy="50800"/>
          </a:xfrm>
          <a:prstGeom prst="rect">
            <a:avLst/>
          </a:prstGeom>
          <a:solidFill>
            <a:srgbClr val="25A1B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41400" y="4038600"/>
            <a:ext cx="14224000" cy="50800"/>
          </a:xfrm>
          <a:prstGeom prst="rect">
            <a:avLst/>
          </a:prstGeom>
          <a:solidFill>
            <a:srgbClr val="DEE2E6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Program Journey Map: Pre-boarding to 90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온보딩 전부터 입사 후 90일까지, 신규 입사자의 경험을 단계별 솔루션으로 설계합니다.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90871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154f2755-b4c9-4999-a754-2d1ff28dc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" y="4775200"/>
            <a:ext cx="203200" cy="203200"/>
          </a:xfrm>
          <a:prstGeom prst="rect">
            <a:avLst/>
          </a:prstGeom>
        </p:spPr>
      </p:pic>
      <p:pic>
        <p:nvPicPr>
          <p:cNvPr id="42" name="Picture 41" descr="37c20300-9b08-4ff9-ace3-7ed3e8161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4775200"/>
            <a:ext cx="177800" cy="203200"/>
          </a:xfrm>
          <a:prstGeom prst="rect">
            <a:avLst/>
          </a:prstGeom>
        </p:spPr>
      </p:pic>
      <p:pic>
        <p:nvPicPr>
          <p:cNvPr id="44" name="Picture 43" descr="191620ad-1db4-4f67-88d7-02ca25a44a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4775200"/>
            <a:ext cx="152400" cy="203200"/>
          </a:xfrm>
          <a:prstGeom prst="rect">
            <a:avLst/>
          </a:prstGeom>
        </p:spPr>
      </p:pic>
      <p:pic>
        <p:nvPicPr>
          <p:cNvPr id="46" name="Picture 45" descr="c685d888-9d5b-4128-8d2f-670828a9d8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0100" y="47752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2298700"/>
            <a:ext cx="4533900" cy="67183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46200" y="8445500"/>
            <a:ext cx="3873500" cy="508000"/>
          </a:xfrm>
          <a:prstGeom prst="roundRect">
            <a:avLst>
              <a:gd name="adj" fmla="val 15000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 sz="1400" b="0" i="0">
                <a:solidFill>
                  <a:srgbClr val="25A1B8"/>
                </a:solidFill>
                <a:latin typeface="Noto Sans KR"/>
              </a:defRPr>
            </a:pPr>
            <a:r>
              <a:rPr sz="1400" b="0" i="0">
                <a:solidFill>
                  <a:srgbClr val="25A1B8"/>
                </a:solidFill>
                <a:latin typeface="Noto Sans KR"/>
              </a:rPr>
              <a:t>응급 연락처: 멘토/버디/HR/업무 오너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7400" y="2298700"/>
            <a:ext cx="4533900" cy="67183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706100" y="2298700"/>
            <a:ext cx="4533900" cy="67183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솔루션 상세 ① RX Onboarding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실물 키트로 명확한 가이드, 심리적 안전감, 긍정적 첫인상을 제공합니다.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0497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54200" y="2628900"/>
            <a:ext cx="3390900" cy="812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직무 처방전 (Role Prescription)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0800" y="35496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500" b="0" i="0">
                <a:solidFill>
                  <a:srgbClr val="1A2E35"/>
                </a:solidFill>
                <a:latin typeface="Noto Sans KR"/>
              </a:defRPr>
            </a:pPr>
            <a:r>
              <a:rPr sz="1500" b="0" i="0">
                <a:solidFill>
                  <a:srgbClr val="1A2E35"/>
                </a:solidFill>
                <a:latin typeface="Noto Sans KR"/>
              </a:rPr>
              <a:t>OO직무 30/60/90일 적응 처방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0800" y="419735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증상 (입사 초기 어려움)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459105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0" i="0">
                <a:solidFill>
                  <a:srgbClr val="5C7073"/>
                </a:solidFill>
                <a:latin typeface="Noto Sans KR"/>
              </a:rPr>
              <a:t>우선순위 혼란 / 질문 루트 부재 / 기대치 불명확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800" y="508635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복용법 (실행 가이드)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0800" y="54927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Day 1: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팀 목표/나의 역할 1문장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20800" y="54927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20800" y="60261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Week 1: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핵심 업무 3개 + 성공 기준(DoD) 합의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20800" y="60261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20800" y="65468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Month 1: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산출물 1개 단독 수행 + 피드백 2회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20800" y="65468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20800" y="70802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Month 3: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개선 제안 1건 발표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0800" y="70802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46200" y="773430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금기사항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200" y="814070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9480F"/>
                </a:solidFill>
                <a:latin typeface="Noto Sans KR"/>
              </a:defRPr>
            </a:pPr>
            <a:r>
              <a:rPr sz="1400" b="0" i="0">
                <a:solidFill>
                  <a:srgbClr val="D9480F"/>
                </a:solidFill>
                <a:latin typeface="Noto Sans KR"/>
              </a:rPr>
              <a:t>혼자 끙끙 앓기 / 질문 미루기 / 결론 없는 회의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2900" y="2628900"/>
            <a:ext cx="3403600" cy="812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멘토 매칭 쿠폰 (Mentor Coupon)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49650"/>
            <a:ext cx="3873500" cy="9398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25A1B8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 sz="1400" b="0" i="1">
                <a:solidFill>
                  <a:srgbClr val="25A1B8"/>
                </a:solidFill>
                <a:latin typeface="Noto Sans KR"/>
              </a:defRPr>
            </a:pPr>
            <a:r>
              <a:rPr sz="1400" b="0" i="1">
                <a:solidFill>
                  <a:srgbClr val="25A1B8"/>
                </a:solidFill>
                <a:latin typeface="Noto Sans KR"/>
              </a:rPr>
              <a:t>“이 쿠폰은 ‘질문이 어색한 사람’을 위한</a:t>
            </a:r>
            <a:r>
              <a:t>
</a:t>
            </a:r>
            <a:r>
              <a:rPr sz="1400" b="0" i="1">
                <a:solidFill>
                  <a:srgbClr val="25A1B8"/>
                </a:solidFill>
                <a:latin typeface="Noto Sans KR"/>
              </a:rPr>
              <a:t>안전한 소통 권리입니다.”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67995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사용 방법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736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정기 체크인: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주 1회 20분 (1개월)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72200" y="50736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72200" y="56070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익명 질문 창구: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구글 폼을 통해 언제든 질문 가능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72200" y="56070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72200" y="6140450"/>
            <a:ext cx="3873500" cy="457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400" b="1" i="0">
                <a:solidFill>
                  <a:srgbClr val="5C7073"/>
                </a:solidFill>
                <a:latin typeface="Noto Sans KR"/>
              </a:rPr>
              <a:t>캐주얼 런치/커피:</a:t>
            </a:r>
            <a:r>
              <a:rPr sz="1400" b="0" i="0">
                <a:solidFill>
                  <a:srgbClr val="5C7073"/>
                </a:solidFill>
                <a:latin typeface="Noto Sans KR"/>
              </a:rPr>
              <a:t> 월 1회 자유로운 대화 시간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72200" y="6140450"/>
            <a:ext cx="0" cy="457200"/>
          </a:xfrm>
          <a:prstGeom prst="line">
            <a:avLst/>
          </a:prstGeom>
          <a:ln w="38100">
            <a:solidFill>
              <a:srgbClr val="E0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72200" y="678815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심리적 안전 약속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7194550"/>
            <a:ext cx="3337560" cy="603504"/>
          </a:xfrm>
          <a:prstGeom prst="roundRect">
            <a:avLst>
              <a:gd name="adj" fmla="val 8823"/>
            </a:avLst>
          </a:prstGeom>
          <a:solidFill>
            <a:srgbClr val="E6FCF5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  <a:defRPr sz="1400" b="0" i="0">
                <a:solidFill>
                  <a:srgbClr val="208D8E"/>
                </a:solidFill>
                <a:latin typeface="Noto Sans KR"/>
              </a:defRPr>
            </a:pPr>
            <a:r>
              <a:rPr sz="1200">
                <a:latin typeface="Noto Sans KR"/>
              </a:rPr>
              <a:t>질문은 평가가 아닌 성장 데이터로만 활용됩니다.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69700" y="2628900"/>
            <a:ext cx="3378200" cy="812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웰컴 가이드 (Welcome Guide)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36300" y="378460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가이드 목차 샘플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9500" y="4212167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COSRX가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해결하는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피부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고민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(Our Mission)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5850" y="4595284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조직도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&amp;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협업지도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(Who's Who)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20450" y="4986867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업무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툴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가이드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(Slack, Notion, Mail)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58550" y="5329767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회의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문화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원칙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(Agenda, Action Items)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58550" y="5717117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용어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사전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(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사내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약어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,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캠페인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코드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36300" y="6197600"/>
            <a:ext cx="389890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E35"/>
                </a:solidFill>
                <a:latin typeface="Noto Sans KR"/>
              </a:defRPr>
            </a:pPr>
            <a:r>
              <a:rPr sz="1400" b="1" i="0">
                <a:solidFill>
                  <a:srgbClr val="1A2E35"/>
                </a:solidFill>
                <a:latin typeface="Noto Sans KR"/>
              </a:rPr>
              <a:t>첫 2주 적응 체크리스트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26800" y="6629400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팀원들과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1:1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커피챗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완료</a:t>
            </a:r>
            <a:endParaRPr sz="1400" b="0" i="0" dirty="0">
              <a:solidFill>
                <a:srgbClr val="5C7073"/>
              </a:solidFill>
              <a:latin typeface="Noto Sans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26800" y="6972300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주요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히스토리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문서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3개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읽기</a:t>
            </a:r>
            <a:endParaRPr sz="1400" b="0" i="0" dirty="0">
              <a:solidFill>
                <a:srgbClr val="5C7073"/>
              </a:solidFill>
              <a:latin typeface="Noto Sans KR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214100" y="7353300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>
                <a:solidFill>
                  <a:srgbClr val="5C7073"/>
                </a:solidFill>
                <a:latin typeface="Noto Sans KR"/>
              </a:rPr>
              <a:t>내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업무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관련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슬랙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채널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5개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이상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참여</a:t>
            </a:r>
            <a:endParaRPr sz="1400" b="0" i="0" dirty="0">
              <a:solidFill>
                <a:srgbClr val="5C7073"/>
              </a:solidFill>
              <a:latin typeface="Noto Sans K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26800" y="7736840"/>
            <a:ext cx="3246120" cy="381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C7073"/>
                </a:solidFill>
                <a:latin typeface="Noto Sans KR"/>
              </a:defRPr>
            </a:pPr>
            <a:r>
              <a:rPr sz="1200" b="0" i="0" dirty="0">
                <a:solidFill>
                  <a:srgbClr val="5C7073"/>
                </a:solidFill>
                <a:latin typeface="Noto Sans KR"/>
              </a:rPr>
              <a:t>첫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주간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보고서</a:t>
            </a:r>
            <a:r>
              <a:rPr sz="12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200" b="0" i="0" dirty="0" err="1">
                <a:solidFill>
                  <a:srgbClr val="5C7073"/>
                </a:solidFill>
                <a:latin typeface="Noto Sans KR"/>
              </a:rPr>
              <a:t>제출</a:t>
            </a:r>
            <a:endParaRPr sz="1400" b="0" i="0" dirty="0">
              <a:solidFill>
                <a:srgbClr val="5C7073"/>
              </a:solidFill>
              <a:latin typeface="Noto Sans KR"/>
            </a:endParaRPr>
          </a:p>
        </p:txBody>
      </p:sp>
      <p:pic>
        <p:nvPicPr>
          <p:cNvPr id="47" name="Picture 46" descr="546e1857-3647-4a50-8da3-48feddc686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2844800"/>
            <a:ext cx="355600" cy="304800"/>
          </a:xfrm>
          <a:prstGeom prst="rect">
            <a:avLst/>
          </a:prstGeom>
        </p:spPr>
      </p:pic>
      <p:pic>
        <p:nvPicPr>
          <p:cNvPr id="48" name="Picture 47" descr="bf96cb60-669b-433c-9c28-8cbef8eff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8642350"/>
            <a:ext cx="177800" cy="177800"/>
          </a:xfrm>
          <a:prstGeom prst="rect">
            <a:avLst/>
          </a:prstGeom>
        </p:spPr>
      </p:pic>
      <p:pic>
        <p:nvPicPr>
          <p:cNvPr id="49" name="Picture 48" descr="60364e40-f3da-4472-a304-93f3db54df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2844800"/>
            <a:ext cx="342900" cy="304800"/>
          </a:xfrm>
          <a:prstGeom prst="rect">
            <a:avLst/>
          </a:prstGeom>
        </p:spPr>
      </p:pic>
      <p:pic>
        <p:nvPicPr>
          <p:cNvPr id="50" name="Picture 49" descr="b86b9af5-dd6e-4d72-95ca-346ef33d75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7581900"/>
            <a:ext cx="177800" cy="177800"/>
          </a:xfrm>
          <a:prstGeom prst="rect">
            <a:avLst/>
          </a:prstGeom>
        </p:spPr>
      </p:pic>
      <p:pic>
        <p:nvPicPr>
          <p:cNvPr id="51" name="Picture 50" descr="e1afe620-b48a-44b9-b76c-a6797097e4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300" y="2844800"/>
            <a:ext cx="368300" cy="304800"/>
          </a:xfrm>
          <a:prstGeom prst="rect">
            <a:avLst/>
          </a:prstGeom>
        </p:spPr>
      </p:pic>
      <p:pic>
        <p:nvPicPr>
          <p:cNvPr id="52" name="Picture 51" descr="82946b88-8ce9-46af-ae93-502e804b7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6300" y="4267200"/>
            <a:ext cx="152400" cy="152400"/>
          </a:xfrm>
          <a:prstGeom prst="rect">
            <a:avLst/>
          </a:prstGeom>
        </p:spPr>
      </p:pic>
      <p:pic>
        <p:nvPicPr>
          <p:cNvPr id="53" name="Picture 52" descr="3c272323-e381-4c1c-b66e-db667507b3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6300" y="4635500"/>
            <a:ext cx="177800" cy="152400"/>
          </a:xfrm>
          <a:prstGeom prst="rect">
            <a:avLst/>
          </a:prstGeom>
        </p:spPr>
      </p:pic>
      <p:pic>
        <p:nvPicPr>
          <p:cNvPr id="54" name="Picture 53" descr="8f01a747-f9f7-460c-838d-b3ed6e012b4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300" y="5016500"/>
            <a:ext cx="152400" cy="152400"/>
          </a:xfrm>
          <a:prstGeom prst="rect">
            <a:avLst/>
          </a:prstGeom>
        </p:spPr>
      </p:pic>
      <p:pic>
        <p:nvPicPr>
          <p:cNvPr id="55" name="Picture 54" descr="11600d23-a0ff-4cd6-a65c-fd94676d604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6300" y="5397500"/>
            <a:ext cx="190500" cy="152400"/>
          </a:xfrm>
          <a:prstGeom prst="rect">
            <a:avLst/>
          </a:prstGeom>
        </p:spPr>
      </p:pic>
      <p:pic>
        <p:nvPicPr>
          <p:cNvPr id="56" name="Picture 55" descr="07a510b2-5494-4fd0-87f4-115c1757d13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36300" y="5778500"/>
            <a:ext cx="190500" cy="152400"/>
          </a:xfrm>
          <a:prstGeom prst="rect">
            <a:avLst/>
          </a:prstGeom>
        </p:spPr>
      </p:pic>
      <p:pic>
        <p:nvPicPr>
          <p:cNvPr id="57" name="Picture 56" descr="e70d7942-0f43-4b8b-bc4d-48f4fc71e8e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6300" y="6667500"/>
            <a:ext cx="139700" cy="152400"/>
          </a:xfrm>
          <a:prstGeom prst="rect">
            <a:avLst/>
          </a:prstGeom>
        </p:spPr>
      </p:pic>
      <p:pic>
        <p:nvPicPr>
          <p:cNvPr id="58" name="Picture 57" descr="e70d7942-0f43-4b8b-bc4d-48f4fc71e8e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6300" y="7048500"/>
            <a:ext cx="139700" cy="152400"/>
          </a:xfrm>
          <a:prstGeom prst="rect">
            <a:avLst/>
          </a:prstGeom>
        </p:spPr>
      </p:pic>
      <p:pic>
        <p:nvPicPr>
          <p:cNvPr id="59" name="Picture 58" descr="e70d7942-0f43-4b8b-bc4d-48f4fc71e8e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6300" y="7429500"/>
            <a:ext cx="139700" cy="152400"/>
          </a:xfrm>
          <a:prstGeom prst="rect">
            <a:avLst/>
          </a:prstGeom>
        </p:spPr>
      </p:pic>
      <p:pic>
        <p:nvPicPr>
          <p:cNvPr id="60" name="Picture 59" descr="e70d7942-0f43-4b8b-bc4d-48f4fc71e8e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36300" y="7810500"/>
            <a:ext cx="1397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6000" y="2425700"/>
            <a:ext cx="4533900" cy="65532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54700" y="2425700"/>
            <a:ext cx="4533900" cy="65532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06100" y="2425700"/>
            <a:ext cx="4533900" cy="6553200"/>
          </a:xfrm>
          <a:prstGeom prst="roundRect">
            <a:avLst>
              <a:gd name="adj" fmla="val 3361"/>
            </a:avLst>
          </a:prstGeom>
          <a:solidFill>
            <a:srgbClr val="F8F9FA"/>
          </a:solidFill>
          <a:ln w="12700">
            <a:solidFill>
              <a:srgbClr val="DEE2E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2E35"/>
                </a:solidFill>
                <a:latin typeface="Noto Sans KR"/>
              </a:defRPr>
            </a:pPr>
            <a:r>
              <a:rPr sz="4000" b="1" i="0">
                <a:solidFill>
                  <a:srgbClr val="1A2E35"/>
                </a:solidFill>
                <a:latin typeface="Noto Sans KR"/>
              </a:rPr>
              <a:t>온보딩 키트 상세: 실제 템플릿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676400"/>
            <a:ext cx="14249400" cy="4445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5A1B8"/>
                </a:solidFill>
                <a:latin typeface="Noto Sans KR"/>
              </a:defRPr>
            </a:pPr>
            <a:r>
              <a:rPr sz="2000" b="0" i="0">
                <a:solidFill>
                  <a:srgbClr val="25A1B8"/>
                </a:solidFill>
                <a:latin typeface="Noto Sans KR"/>
              </a:rPr>
              <a:t>각 아이템은 신규 입사자가 실제로 마주할 구체적인 가이드와 문구를 담고 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0871" y="1676400"/>
            <a:ext cx="0" cy="3683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66900" y="2743200"/>
            <a:ext cx="3327400" cy="54864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직무 처방전 (Role Prescription)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34925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처방명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8989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5A1B8"/>
                </a:solidFill>
                <a:latin typeface="Noto Sans KR"/>
              </a:defRPr>
            </a:pPr>
            <a:r>
              <a:rPr sz="1300" b="1" i="0">
                <a:solidFill>
                  <a:srgbClr val="25A1B8"/>
                </a:solidFill>
                <a:latin typeface="Noto Sans KR"/>
              </a:rPr>
              <a:t>"OO직무 30/60/90일 적응 처방"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3815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증상 (입사 초기 흔한 어려움)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7752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우선순위 혼란 / 질문 루트 부재 / 기대치 불명확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2578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복용법 (실행 가이드)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56642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Day1: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팀 목표/나의 역할 1문장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59944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Week1: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핵심 업무 3개 + 성공 기준(DoD) 합의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Month1: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산출물 1개 단독 수행 + 피드백 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66548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Month3: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개선 제안 1건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71374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금기사항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7543800"/>
            <a:ext cx="3924300" cy="635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혼자 끙끙 앓기 / 질문 미루기 / 회의만 하고 결론 없는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83058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응급 연락처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86995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멘토 / 버디 / HR / 업무 오너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2743200"/>
            <a:ext cx="3390900" cy="736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멘토 매칭 쿠폰 (Mentor Coupon)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227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권리 선언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291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5C7073"/>
                </a:solidFill>
                <a:latin typeface="Noto Sans KR"/>
              </a:defRPr>
            </a:pPr>
            <a:r>
              <a:rPr sz="1300" b="0" i="1">
                <a:solidFill>
                  <a:srgbClr val="5C7073"/>
                </a:solidFill>
                <a:latin typeface="Noto Sans KR"/>
              </a:rPr>
              <a:t>“이 쿠폰은 ‘질문이 어색한 사람’을 위한 권리입니다.”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7117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사용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105400"/>
            <a:ext cx="3924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체크인: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주 1회 20분 정기 미팅 (입사 첫 1개월)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435600"/>
            <a:ext cx="3924300" cy="6350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질문 채널: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대면 소통 또는 익명 질문 구글 폼 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6045200"/>
            <a:ext cx="3924300" cy="914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1" i="0">
                <a:solidFill>
                  <a:srgbClr val="5C7073"/>
                </a:solidFill>
                <a:latin typeface="Noto Sans KR"/>
              </a:rPr>
              <a:t>대화 주제:</a:t>
            </a:r>
            <a:r>
              <a:rPr sz="1300" b="0" i="0">
                <a:solidFill>
                  <a:srgbClr val="5C7073"/>
                </a:solidFill>
                <a:latin typeface="Noto Sans KR"/>
              </a:rPr>
              <a:t> 업무 질문, 조직문화, 커리어 고민 등 무엇이든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9800" y="7137400"/>
            <a:ext cx="4216400" cy="1143000"/>
          </a:xfrm>
          <a:prstGeom prst="roundRect">
            <a:avLst>
              <a:gd name="adj" fmla="val 13333"/>
            </a:avLst>
          </a:prstGeom>
          <a:solidFill>
            <a:srgbClr val="E0F7FA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  <a:defRPr sz="1300" b="0" i="0">
                <a:solidFill>
                  <a:srgbClr val="1A2E35"/>
                </a:solidFill>
                <a:latin typeface="Noto Sans KR"/>
              </a:defRPr>
            </a:pPr>
            <a:r>
              <a:rPr sz="1300" b="1" i="0" dirty="0" err="1">
                <a:solidFill>
                  <a:srgbClr val="1A2E35"/>
                </a:solidFill>
                <a:latin typeface="Noto Sans KR"/>
              </a:rPr>
              <a:t>심리적</a:t>
            </a:r>
            <a:r>
              <a:rPr sz="13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1" i="0" dirty="0" err="1">
                <a:solidFill>
                  <a:srgbClr val="1A2E35"/>
                </a:solidFill>
                <a:latin typeface="Noto Sans KR"/>
              </a:rPr>
              <a:t>안전</a:t>
            </a:r>
            <a:r>
              <a:rPr sz="1300" b="1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1" i="0" dirty="0" err="1">
                <a:solidFill>
                  <a:srgbClr val="1A2E35"/>
                </a:solidFill>
                <a:latin typeface="Noto Sans KR"/>
              </a:rPr>
              <a:t>약속</a:t>
            </a:r>
            <a:r>
              <a:rPr dirty="0"/>
              <a:t>
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"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모든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질문은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성장을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위한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데이터로만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활용되며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,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절대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평가의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대상이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되지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1A2E35"/>
                </a:solidFill>
                <a:latin typeface="Noto Sans KR"/>
              </a:rPr>
              <a:t>않습니다</a:t>
            </a:r>
            <a:r>
              <a:rPr sz="1300" b="0" i="0" dirty="0">
                <a:solidFill>
                  <a:srgbClr val="1A2E35"/>
                </a:solidFill>
                <a:latin typeface="Noto Sans KR"/>
              </a:rPr>
              <a:t>."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19800" y="7137400"/>
            <a:ext cx="0" cy="1143000"/>
          </a:xfrm>
          <a:prstGeom prst="line">
            <a:avLst/>
          </a:prstGeom>
          <a:ln w="38100">
            <a:solidFill>
              <a:srgbClr val="25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557000" y="2743200"/>
            <a:ext cx="3124200" cy="54864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2E35"/>
                </a:solidFill>
                <a:latin typeface="Noto Sans KR"/>
              </a:defRPr>
            </a:pPr>
            <a:r>
              <a:rPr sz="1600" b="1" i="0">
                <a:solidFill>
                  <a:srgbClr val="1A2E35"/>
                </a:solidFill>
                <a:latin typeface="Noto Sans KR"/>
              </a:rPr>
              <a:t>웰컴 가이드 (Welcome Guide)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23600" y="3492500"/>
            <a:ext cx="3924300" cy="406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E35"/>
                </a:solidFill>
                <a:latin typeface="Noto Sans KR"/>
              </a:defRPr>
            </a:pPr>
            <a:r>
              <a:rPr sz="1500" b="1" i="0">
                <a:solidFill>
                  <a:srgbClr val="1A2E35"/>
                </a:solidFill>
                <a:latin typeface="Noto Sans KR"/>
              </a:rPr>
              <a:t>핵심 목차 샘플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67440" y="400050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COSRX가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해결하는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피부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고민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(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브랜드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1-Pager)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67440" y="435610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누가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무엇을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담당하나요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? (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조직도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/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협업지도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67440" y="472948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업무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툴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사용법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(Slack, Notion, Email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규칙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67440" y="511810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>
                <a:solidFill>
                  <a:srgbClr val="5C7073"/>
                </a:solidFill>
                <a:latin typeface="Noto Sans KR"/>
              </a:rPr>
              <a:t>효율적인 회의 문화 (아젠다/결론/액션아이템)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67440" y="549910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우리만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아는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용어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사전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(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사내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약어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,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캠페인명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67440" y="5880100"/>
            <a:ext cx="3797300" cy="3556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7073"/>
                </a:solidFill>
                <a:latin typeface="Noto Sans KR"/>
              </a:defRPr>
            </a:pP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이것만은</a:t>
            </a:r>
            <a:r>
              <a:rPr sz="1300" b="0" i="0" dirty="0">
                <a:solidFill>
                  <a:srgbClr val="5C7073"/>
                </a:solidFill>
                <a:latin typeface="Noto Sans KR"/>
              </a:rPr>
              <a:t> 꼭! 첫 2주 </a:t>
            </a:r>
            <a:r>
              <a:rPr sz="1300" b="0" i="0" dirty="0" err="1">
                <a:solidFill>
                  <a:srgbClr val="5C7073"/>
                </a:solidFill>
                <a:latin typeface="Noto Sans KR"/>
              </a:rPr>
              <a:t>체크리스트</a:t>
            </a:r>
            <a:endParaRPr sz="1300" b="0" i="0" dirty="0">
              <a:solidFill>
                <a:srgbClr val="5C7073"/>
              </a:solidFill>
              <a:latin typeface="Noto Sans KR"/>
            </a:endParaRPr>
          </a:p>
        </p:txBody>
      </p:sp>
      <p:pic>
        <p:nvPicPr>
          <p:cNvPr id="39" name="Picture 38" descr="c512e271-7b96-4770-9623-d41fd1540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55900"/>
            <a:ext cx="381000" cy="304800"/>
          </a:xfrm>
          <a:prstGeom prst="rect">
            <a:avLst/>
          </a:prstGeom>
        </p:spPr>
      </p:pic>
      <p:pic>
        <p:nvPicPr>
          <p:cNvPr id="40" name="Picture 39" descr="d11a0cb4-dd46-4a83-86f6-5ea1f1667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921000"/>
            <a:ext cx="381000" cy="304800"/>
          </a:xfrm>
          <a:prstGeom prst="rect">
            <a:avLst/>
          </a:prstGeom>
        </p:spPr>
      </p:pic>
      <p:pic>
        <p:nvPicPr>
          <p:cNvPr id="41" name="Picture 40" descr="5aaa195a-d01e-45f1-9821-9d0f2ec3d7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00" y="2755900"/>
            <a:ext cx="381000" cy="304800"/>
          </a:xfrm>
          <a:prstGeom prst="rect">
            <a:avLst/>
          </a:prstGeom>
        </p:spPr>
      </p:pic>
      <p:pic>
        <p:nvPicPr>
          <p:cNvPr id="42" name="Picture 41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4038600"/>
            <a:ext cx="139700" cy="152400"/>
          </a:xfrm>
          <a:prstGeom prst="rect">
            <a:avLst/>
          </a:prstGeom>
        </p:spPr>
      </p:pic>
      <p:pic>
        <p:nvPicPr>
          <p:cNvPr id="43" name="Picture 42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4419600"/>
            <a:ext cx="139700" cy="152400"/>
          </a:xfrm>
          <a:prstGeom prst="rect">
            <a:avLst/>
          </a:prstGeom>
        </p:spPr>
      </p:pic>
      <p:pic>
        <p:nvPicPr>
          <p:cNvPr id="44" name="Picture 43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4800600"/>
            <a:ext cx="139700" cy="152400"/>
          </a:xfrm>
          <a:prstGeom prst="rect">
            <a:avLst/>
          </a:prstGeom>
        </p:spPr>
      </p:pic>
      <p:pic>
        <p:nvPicPr>
          <p:cNvPr id="45" name="Picture 44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5181600"/>
            <a:ext cx="139700" cy="152400"/>
          </a:xfrm>
          <a:prstGeom prst="rect">
            <a:avLst/>
          </a:prstGeom>
        </p:spPr>
      </p:pic>
      <p:pic>
        <p:nvPicPr>
          <p:cNvPr id="46" name="Picture 45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5562600"/>
            <a:ext cx="139700" cy="152400"/>
          </a:xfrm>
          <a:prstGeom prst="rect">
            <a:avLst/>
          </a:prstGeom>
        </p:spPr>
      </p:pic>
      <p:pic>
        <p:nvPicPr>
          <p:cNvPr id="47" name="Picture 46" descr="8ade66db-6041-4057-9fc1-3f8e8de917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5943600"/>
            <a:ext cx="1397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1899</Words>
  <Application>Microsoft Office PowerPoint</Application>
  <PresentationFormat>사용자 지정</PresentationFormat>
  <Paragraphs>240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원섭 태</cp:lastModifiedBy>
  <cp:revision>13</cp:revision>
  <dcterms:created xsi:type="dcterms:W3CDTF">2013-01-27T09:14:16Z</dcterms:created>
  <dcterms:modified xsi:type="dcterms:W3CDTF">2026-01-19T17:04:28Z</dcterms:modified>
  <cp:category/>
</cp:coreProperties>
</file>